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0" d="100"/>
          <a:sy n="70" d="100"/>
        </p:scale>
        <p:origin x="-702"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04838" y="3186053"/>
            <a:ext cx="6982361" cy="1178920"/>
          </a:xfrm>
        </p:spPr>
        <p:txBody>
          <a:bodyPr anchor="b">
            <a:normAutofit/>
          </a:bodyPr>
          <a:lstStyle>
            <a:lvl1pPr algn="ctr">
              <a:defRPr sz="4400"/>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4904838" y="4538211"/>
            <a:ext cx="6982361" cy="469218"/>
          </a:xfrm>
        </p:spPr>
        <p:txBody>
          <a:bodyPr>
            <a:normAutofit/>
          </a:bodyPr>
          <a:lstStyle>
            <a:lvl1pPr marL="0" indent="0" algn="ctr">
              <a:buNone/>
              <a:defRPr sz="18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964874" y="2770413"/>
            <a:ext cx="5065514" cy="637806"/>
          </a:xfrm>
        </p:spPr>
        <p:txBody>
          <a:bodyPr anchor="t" anchorCtr="0">
            <a:normAutofit/>
          </a:bodyPr>
          <a:lstStyle>
            <a:lvl1pPr algn="r">
              <a:defRPr sz="2800" b="0">
                <a:solidFill>
                  <a:schemeClr val="tx2"/>
                </a:solidFill>
                <a:effectLst/>
              </a:defRPr>
            </a:lvl1pPr>
          </a:lstStyle>
          <a:p>
            <a:r>
              <a:rPr lang="zh-CN" altLang="en-US" dirty="0" smtClean="0"/>
              <a:t>此处添加您的标题</a:t>
            </a:r>
            <a:endParaRPr lang="en-US" dirty="0"/>
          </a:p>
        </p:txBody>
      </p:sp>
      <p:sp>
        <p:nvSpPr>
          <p:cNvPr id="3" name="日期占位符 2"/>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458687"/>
            <a:ext cx="5181600" cy="350955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6172200" y="1458687"/>
            <a:ext cx="5181600" cy="350955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944563"/>
          </a:xfrm>
        </p:spPr>
        <p:txBody>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839788" y="1437323"/>
            <a:ext cx="5157787" cy="51339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endParaRPr lang="zh-CN" altLang="en-US" dirty="0" smtClean="0"/>
          </a:p>
        </p:txBody>
      </p:sp>
      <p:sp>
        <p:nvSpPr>
          <p:cNvPr id="4" name="Content Placeholder 3"/>
          <p:cNvSpPr>
            <a:spLocks noGrp="1"/>
          </p:cNvSpPr>
          <p:nvPr>
            <p:ph sz="half" idx="2"/>
          </p:nvPr>
        </p:nvSpPr>
        <p:spPr>
          <a:xfrm>
            <a:off x="839788" y="2063115"/>
            <a:ext cx="5157787" cy="29051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6172200" y="1437323"/>
            <a:ext cx="5183188" cy="51339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6172200" y="2063115"/>
            <a:ext cx="5183188" cy="29051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08615" y="2002969"/>
            <a:ext cx="4974771" cy="1828800"/>
          </a:xfrm>
        </p:spPr>
        <p:txBody>
          <a:bodyPr>
            <a:noAutofit/>
          </a:bodyPr>
          <a:lstStyle>
            <a:lvl1pPr algn="ctr">
              <a:defRPr sz="7200"/>
            </a:lvl1pPr>
          </a:lstStyle>
          <a:p>
            <a:r>
              <a:rPr lang="zh-CN" altLang="en-US" dirty="0" smtClean="0"/>
              <a:t>编辑标题</a:t>
            </a:r>
            <a:endParaRPr lang="en-US" dirty="0"/>
          </a:p>
        </p:txBody>
      </p:sp>
      <p:sp>
        <p:nvSpPr>
          <p:cNvPr id="3" name="Date Placeholder 2"/>
          <p:cNvSpPr>
            <a:spLocks noGrp="1"/>
          </p:cNvSpPr>
          <p:nvPr>
            <p:ph type="dt" sz="half" idx="10"/>
          </p:nvPr>
        </p:nvSpPr>
        <p:spPr/>
        <p:txBody>
          <a:bodyPr/>
          <a:lstStyle/>
          <a:p>
            <a:fld id="{275B98A9-C20B-4D5B-92DA-1D75B9D715AC}"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49B50B9-7135-4D78-A58F-DF4CD6531EC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078692" y="457200"/>
            <a:ext cx="10034617" cy="718457"/>
          </a:xfrm>
        </p:spPr>
        <p:txBody>
          <a:bodyPr anchor="ctr">
            <a:normAutofit/>
          </a:bodyPr>
          <a:lstStyle>
            <a:lvl1pPr algn="ctr">
              <a:defRPr sz="28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083129" y="1197429"/>
            <a:ext cx="10025743" cy="2917372"/>
          </a:xfrm>
        </p:spPr>
        <p:txBody>
          <a:bodyPr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539240" y="4288973"/>
            <a:ext cx="9569632" cy="1980293"/>
          </a:xfrm>
        </p:spPr>
        <p:txBody>
          <a:bodyPr>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smtClean="0"/>
              <a:t>单击此处编辑母版文本样式</a:t>
            </a:r>
            <a:endParaRPr lang="zh-CN" altLang="en-US" dirty="0" smtClean="0"/>
          </a:p>
        </p:txBody>
      </p:sp>
      <p:sp>
        <p:nvSpPr>
          <p:cNvPr id="5" name="Date Placeholder 4"/>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97886" y="365125"/>
            <a:ext cx="1055914"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458686" y="365125"/>
            <a:ext cx="8665028"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58CBE0A-6AF3-4DB5-863D-349F9414899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ADA3DE-FABF-4925-BE42-A002C40F88E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内容占位符 2"/>
          <p:cNvSpPr>
            <a:spLocks noGrp="1"/>
          </p:cNvSpPr>
          <p:nvPr>
            <p:ph idx="1"/>
          </p:nvPr>
        </p:nvSpPr>
        <p:spPr>
          <a:xfrm>
            <a:off x="837600" y="408675"/>
            <a:ext cx="10516800" cy="5810400"/>
          </a:xfrm>
        </p:spPr>
        <p:txBody>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6EF2F5ED-D19D-4097-92A9-D6092B3D6E6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AAEAA2-D029-4D23-B6D5-DE004B8B3ED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2.xml"/><Relationship Id="rId12" Type="http://schemas.openxmlformats.org/officeDocument/2006/relationships/tags" Target="../tags/tag1.xml"/><Relationship Id="rId11" Type="http://schemas.openxmlformats.org/officeDocument/2006/relationships/image" Target="../media/image2.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838200" y="365125"/>
            <a:ext cx="10515600" cy="854075"/>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custDataLst>
              <p:tags r:id="rId13"/>
            </p:custDataLst>
          </p:nvPr>
        </p:nvSpPr>
        <p:spPr>
          <a:xfrm>
            <a:off x="838200" y="1502229"/>
            <a:ext cx="10515600" cy="3466011"/>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8CBE0A-6AF3-4DB5-863D-349F94148999}"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DA3DE-FABF-4925-BE42-A002C40F88E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p:titleStyle>
    <p:bodyStyle>
      <a:lvl1pPr marL="228600" indent="-228600" algn="l" defTabSz="914400" rtl="0" eaLnBrk="1" latinLnBrk="0" hangingPunct="1">
        <a:lnSpc>
          <a:spcPct val="90000"/>
        </a:lnSpc>
        <a:spcBef>
          <a:spcPts val="1000"/>
        </a:spcBef>
        <a:buClr>
          <a:schemeClr val="accent1"/>
        </a:buClr>
        <a:buSzPct val="80000"/>
        <a:buFont typeface="Wingdings 2" pitchFamily="18" charset="2"/>
        <a:buChar char=""/>
        <a:defRPr sz="2800" kern="1200">
          <a:solidFill>
            <a:schemeClr val="accent1">
              <a:lumMod val="75000"/>
            </a:schemeClr>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75000"/>
            </a:schemeClr>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lumMod val="75000"/>
            </a:schemeClr>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75000"/>
            </a:schemeClr>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75000"/>
            </a:schemeClr>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4418330" y="2172335"/>
            <a:ext cx="7705725" cy="1179195"/>
          </a:xfrm>
        </p:spPr>
        <p:txBody>
          <a:bodyPr>
            <a:normAutofit/>
          </a:bodyPr>
          <a:lstStyle/>
          <a:p>
            <a:r>
              <a:rPr lang="zh-CN" altLang="en-US" dirty="0">
                <a:solidFill>
                  <a:srgbClr val="92D050"/>
                </a:solidFill>
                <a:latin typeface="+mj-lt"/>
                <a:ea typeface="+mj-ea"/>
              </a:rPr>
              <a:t>RS232通信实验</a:t>
            </a:r>
            <a:endParaRPr lang="zh-CN" altLang="en-US" dirty="0">
              <a:solidFill>
                <a:srgbClr val="92D050"/>
              </a:solidFill>
              <a:latin typeface="+mj-lt"/>
              <a:ea typeface="+mj-ea"/>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本讲主要内容</a:t>
            </a:r>
            <a:endParaRPr lang="zh-CN" altLang="zh-CN"/>
          </a:p>
        </p:txBody>
      </p:sp>
      <p:sp>
        <p:nvSpPr>
          <p:cNvPr id="3" name="内容占位符 2"/>
          <p:cNvSpPr>
            <a:spLocks noGrp="1"/>
          </p:cNvSpPr>
          <p:nvPr>
            <p:ph idx="1"/>
          </p:nvPr>
        </p:nvSpPr>
        <p:spPr/>
        <p:txBody>
          <a:bodyPr/>
          <a:lstStyle/>
          <a:p>
            <a:pPr marL="0" indent="0">
              <a:buNone/>
            </a:pPr>
            <a:r>
              <a:rPr lang="en-US" altLang="zh-CN" b="1" dirty="0">
                <a:latin typeface="宋体" panose="02010600030101010101" pitchFamily="2" charset="-122"/>
                <a:ea typeface="宋体" panose="02010600030101010101" pitchFamily="2" charset="-122"/>
                <a:sym typeface="+mn-ea"/>
              </a:rPr>
              <a:t>1.</a:t>
            </a:r>
            <a:r>
              <a:rPr lang="zh-CN" altLang="en-US" b="1" dirty="0">
                <a:latin typeface="宋体" panose="02010600030101010101" pitchFamily="2" charset="-122"/>
                <a:ea typeface="宋体" panose="02010600030101010101" pitchFamily="2" charset="-122"/>
                <a:sym typeface="+mn-ea"/>
              </a:rPr>
              <a:t>通信的基本概念</a:t>
            </a:r>
            <a:endParaRPr lang="zh-CN" altLang="en-US" b="1" dirty="0">
              <a:latin typeface="宋体" panose="02010600030101010101" pitchFamily="2" charset="-122"/>
              <a:ea typeface="宋体" panose="02010600030101010101" pitchFamily="2" charset="-122"/>
              <a:sym typeface="+mn-ea"/>
            </a:endParaRPr>
          </a:p>
          <a:p>
            <a:pPr marL="0" indent="0">
              <a:buNone/>
            </a:pPr>
            <a:r>
              <a:rPr lang="en-US" altLang="zh-CN" b="1" dirty="0">
                <a:latin typeface="宋体" panose="02010600030101010101" pitchFamily="2" charset="-122"/>
                <a:ea typeface="宋体" panose="02010600030101010101" pitchFamily="2" charset="-122"/>
                <a:sym typeface="+mn-ea"/>
              </a:rPr>
              <a:t>2.</a:t>
            </a:r>
            <a:r>
              <a:rPr lang="zh-CN" altLang="en-US" b="1" dirty="0">
                <a:latin typeface="宋体" panose="02010600030101010101" pitchFamily="2" charset="-122"/>
                <a:ea typeface="宋体" panose="02010600030101010101" pitchFamily="2" charset="-122"/>
                <a:sym typeface="+mn-ea"/>
              </a:rPr>
              <a:t>F28335的</a:t>
            </a:r>
            <a:r>
              <a:rPr lang="en-US" altLang="zh-CN" b="1" dirty="0">
                <a:latin typeface="宋体" panose="02010600030101010101" pitchFamily="2" charset="-122"/>
                <a:ea typeface="宋体" panose="02010600030101010101" pitchFamily="2" charset="-122"/>
                <a:sym typeface="+mn-ea"/>
              </a:rPr>
              <a:t>SCI</a:t>
            </a:r>
            <a:r>
              <a:rPr lang="zh-CN" altLang="en-US" b="1" dirty="0">
                <a:latin typeface="宋体" panose="02010600030101010101" pitchFamily="2" charset="-122"/>
                <a:ea typeface="宋体" panose="02010600030101010101" pitchFamily="2" charset="-122"/>
                <a:sym typeface="+mn-ea"/>
              </a:rPr>
              <a:t>介绍</a:t>
            </a:r>
            <a:endParaRPr lang="zh-CN" altLang="en-US" b="1" dirty="0">
              <a:latin typeface="宋体" panose="02010600030101010101" pitchFamily="2" charset="-122"/>
              <a:ea typeface="宋体" panose="02010600030101010101" pitchFamily="2" charset="-122"/>
              <a:sym typeface="+mn-ea"/>
            </a:endParaRPr>
          </a:p>
          <a:p>
            <a:pPr marL="0" indent="0">
              <a:buNone/>
            </a:pPr>
            <a:r>
              <a:rPr lang="en-US" altLang="zh-CN" b="1" dirty="0">
                <a:latin typeface="宋体" panose="02010600030101010101" pitchFamily="2" charset="-122"/>
                <a:ea typeface="宋体" panose="02010600030101010101" pitchFamily="2" charset="-122"/>
                <a:sym typeface="+mn-ea"/>
              </a:rPr>
              <a:t>3.SCI</a:t>
            </a:r>
            <a:r>
              <a:rPr lang="zh-CN" altLang="en-US" b="1" dirty="0">
                <a:latin typeface="宋体" panose="02010600030101010101" pitchFamily="2" charset="-122"/>
                <a:ea typeface="宋体" panose="02010600030101010101" pitchFamily="2" charset="-122"/>
                <a:sym typeface="+mn-ea"/>
              </a:rPr>
              <a:t>配置步骤</a:t>
            </a:r>
            <a:endParaRPr lang="zh-CN" altLang="en-US" b="1" dirty="0">
              <a:latin typeface="宋体" panose="02010600030101010101" pitchFamily="2" charset="-122"/>
              <a:ea typeface="宋体" panose="02010600030101010101" pitchFamily="2" charset="-122"/>
              <a:sym typeface="+mn-ea"/>
            </a:endParaRPr>
          </a:p>
          <a:p>
            <a:pPr marL="0" indent="0">
              <a:buNone/>
            </a:pPr>
            <a:r>
              <a:rPr lang="en-US" altLang="zh-CN" b="1" dirty="0">
                <a:latin typeface="宋体" panose="02010600030101010101" pitchFamily="2" charset="-122"/>
                <a:ea typeface="宋体" panose="02010600030101010101" pitchFamily="2" charset="-122"/>
                <a:sym typeface="+mn-ea"/>
              </a:rPr>
              <a:t>4.</a:t>
            </a:r>
            <a:r>
              <a:rPr lang="zh-CN" altLang="en-US" b="1" dirty="0">
                <a:latin typeface="宋体" panose="02010600030101010101" pitchFamily="2" charset="-122"/>
                <a:ea typeface="宋体" panose="02010600030101010101" pitchFamily="2" charset="-122"/>
                <a:sym typeface="+mn-ea"/>
              </a:rPr>
              <a:t>硬件设计</a:t>
            </a:r>
            <a:endParaRPr lang="zh-CN" altLang="en-US" b="1" dirty="0">
              <a:latin typeface="宋体" panose="02010600030101010101" pitchFamily="2" charset="-122"/>
              <a:ea typeface="宋体" panose="02010600030101010101" pitchFamily="2" charset="-122"/>
              <a:sym typeface="+mn-ea"/>
            </a:endParaRPr>
          </a:p>
          <a:p>
            <a:pPr marL="0" indent="0">
              <a:buNone/>
            </a:pPr>
            <a:r>
              <a:rPr lang="en-US" altLang="zh-CN" b="1" dirty="0">
                <a:latin typeface="宋体" panose="02010600030101010101" pitchFamily="2" charset="-122"/>
                <a:ea typeface="宋体" panose="02010600030101010101" pitchFamily="2" charset="-122"/>
                <a:sym typeface="+mn-ea"/>
              </a:rPr>
              <a:t>5.</a:t>
            </a:r>
            <a:r>
              <a:rPr lang="zh-CN" altLang="en-US" b="1" dirty="0">
                <a:latin typeface="宋体" panose="02010600030101010101" pitchFamily="2" charset="-122"/>
                <a:ea typeface="宋体" panose="02010600030101010101" pitchFamily="2" charset="-122"/>
                <a:sym typeface="+mn-ea"/>
              </a:rPr>
              <a:t>软件设计</a:t>
            </a:r>
            <a:endParaRPr lang="zh-CN" altLang="en-US" b="1" dirty="0">
              <a:latin typeface="宋体" panose="02010600030101010101" pitchFamily="2" charset="-122"/>
              <a:ea typeface="宋体" panose="02010600030101010101" pitchFamily="2" charset="-122"/>
              <a:sym typeface="+mn-ea"/>
            </a:endParaRPr>
          </a:p>
          <a:p>
            <a:pPr marL="0" indent="0">
              <a:buNone/>
            </a:pPr>
            <a:endParaRPr lang="zh-CN" altLang="en-US" b="1" dirty="0">
              <a:latin typeface="宋体" panose="02010600030101010101" pitchFamily="2" charset="-122"/>
              <a:ea typeface="宋体" panose="02010600030101010101" pitchFamily="2"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62610"/>
          </a:xfrm>
        </p:spPr>
        <p:txBody>
          <a:bodyPr>
            <a:normAutofit/>
          </a:bodyPr>
          <a:lstStyle/>
          <a:p>
            <a:r>
              <a:rPr lang="en-US" altLang="zh-CN" dirty="0">
                <a:latin typeface="宋体" panose="02010600030101010101" pitchFamily="2" charset="-122"/>
                <a:ea typeface="宋体" panose="02010600030101010101" pitchFamily="2" charset="-122"/>
                <a:sym typeface="+mn-ea"/>
              </a:rPr>
              <a:t>1.</a:t>
            </a:r>
            <a:r>
              <a:rPr lang="zh-CN" altLang="en-US" dirty="0">
                <a:latin typeface="宋体" panose="02010600030101010101" pitchFamily="2" charset="-122"/>
                <a:ea typeface="宋体" panose="02010600030101010101" pitchFamily="2" charset="-122"/>
                <a:sym typeface="+mn-ea"/>
              </a:rPr>
              <a:t>通信的基本概念</a:t>
            </a:r>
            <a:endParaRPr lang="zh-CN" altLang="en-US" dirty="0"/>
          </a:p>
        </p:txBody>
      </p:sp>
      <p:sp>
        <p:nvSpPr>
          <p:cNvPr id="5" name="内容占位符 4"/>
          <p:cNvSpPr>
            <a:spLocks noGrp="1"/>
          </p:cNvSpPr>
          <p:nvPr>
            <p:ph idx="1"/>
          </p:nvPr>
        </p:nvSpPr>
        <p:spPr>
          <a:xfrm>
            <a:off x="838200" y="1475105"/>
            <a:ext cx="10514965" cy="4883785"/>
          </a:xfrm>
        </p:spPr>
        <p:txBody>
          <a:bodyPr>
            <a:normAutofit lnSpcReduction="10000"/>
          </a:bodyPr>
          <a:p>
            <a:pPr>
              <a:buNone/>
            </a:pPr>
            <a:r>
              <a:rPr lang="en-US" altLang="zh-CN" dirty="0">
                <a:latin typeface="宋体" panose="02010600030101010101" pitchFamily="2" charset="-122"/>
                <a:ea typeface="宋体" panose="02010600030101010101" pitchFamily="2" charset="-122"/>
                <a:sym typeface="+mn-ea"/>
              </a:rPr>
              <a:t>	</a:t>
            </a:r>
            <a:r>
              <a:rPr lang="zh-CN" altLang="en-US" dirty="0">
                <a:latin typeface="宋体" panose="02010600030101010101" pitchFamily="2" charset="-122"/>
                <a:ea typeface="宋体" panose="02010600030101010101" pitchFamily="2" charset="-122"/>
                <a:sym typeface="+mn-ea"/>
              </a:rPr>
              <a:t>通信的方式可以分为多种，按照数据传送方式可分为串行通信和</a:t>
            </a:r>
            <a:endParaRPr lang="zh-CN" altLang="en-US" dirty="0">
              <a:latin typeface="宋体" panose="02010600030101010101" pitchFamily="2" charset="-122"/>
              <a:ea typeface="宋体" panose="02010600030101010101" pitchFamily="2" charset="-122"/>
              <a:sym typeface="+mn-ea"/>
            </a:endParaRPr>
          </a:p>
          <a:p>
            <a:pPr>
              <a:buNone/>
            </a:pPr>
            <a:r>
              <a:rPr lang="zh-CN" altLang="en-US" dirty="0">
                <a:latin typeface="宋体" panose="02010600030101010101" pitchFamily="2" charset="-122"/>
                <a:ea typeface="宋体" panose="02010600030101010101" pitchFamily="2" charset="-122"/>
                <a:sym typeface="+mn-ea"/>
              </a:rPr>
              <a:t>并行通信。按照通信的数据同步方式，可分为异同通信和同步通信。</a:t>
            </a:r>
            <a:endParaRPr lang="zh-CN" altLang="en-US" dirty="0">
              <a:latin typeface="宋体" panose="02010600030101010101" pitchFamily="2" charset="-122"/>
              <a:ea typeface="宋体" panose="02010600030101010101" pitchFamily="2" charset="-122"/>
              <a:sym typeface="+mn-ea"/>
            </a:endParaRPr>
          </a:p>
          <a:p>
            <a:pPr>
              <a:buNone/>
            </a:pPr>
            <a:r>
              <a:rPr lang="zh-CN" altLang="en-US" dirty="0">
                <a:latin typeface="宋体" panose="02010600030101010101" pitchFamily="2" charset="-122"/>
                <a:ea typeface="宋体" panose="02010600030101010101" pitchFamily="2" charset="-122"/>
                <a:sym typeface="+mn-ea"/>
              </a:rPr>
              <a:t>按照数据的传输方向又可分为单工、半双工和全双工通信。下面我</a:t>
            </a:r>
            <a:endParaRPr lang="zh-CN" altLang="en-US" dirty="0">
              <a:latin typeface="宋体" panose="02010600030101010101" pitchFamily="2" charset="-122"/>
              <a:ea typeface="宋体" panose="02010600030101010101" pitchFamily="2" charset="-122"/>
              <a:sym typeface="+mn-ea"/>
            </a:endParaRPr>
          </a:p>
          <a:p>
            <a:pPr>
              <a:buNone/>
            </a:pPr>
            <a:r>
              <a:rPr lang="zh-CN" altLang="en-US" dirty="0">
                <a:latin typeface="宋体" panose="02010600030101010101" pitchFamily="2" charset="-122"/>
                <a:ea typeface="宋体" panose="02010600030101010101" pitchFamily="2" charset="-122"/>
                <a:sym typeface="+mn-ea"/>
              </a:rPr>
              <a:t>们就来简单介绍这几种通信方式。</a:t>
            </a:r>
            <a:endParaRPr>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960755"/>
            <a:ext cx="10514965" cy="5495925"/>
          </a:xfrm>
        </p:spPr>
        <p:txBody>
          <a:bodyPr>
            <a:normAutofit fontScale="90000"/>
          </a:bodyPr>
          <a:p>
            <a:pPr>
              <a:buNone/>
            </a:pPr>
            <a:r>
              <a:rPr lang="zh-CN" altLang="en-US" dirty="0">
                <a:latin typeface="宋体" panose="02010600030101010101" pitchFamily="2" charset="-122"/>
                <a:ea typeface="宋体" panose="02010600030101010101" pitchFamily="2" charset="-122"/>
                <a:sym typeface="+mn-ea"/>
              </a:rPr>
              <a:t>（</a:t>
            </a:r>
            <a:r>
              <a:rPr lang="en-US" altLang="zh-CN" dirty="0">
                <a:latin typeface="宋体" panose="02010600030101010101" pitchFamily="2" charset="-122"/>
                <a:ea typeface="宋体" panose="02010600030101010101" pitchFamily="2" charset="-122"/>
                <a:sym typeface="+mn-ea"/>
              </a:rPr>
              <a:t>1</a:t>
            </a:r>
            <a:r>
              <a:rPr lang="zh-CN" altLang="en-US" dirty="0">
                <a:latin typeface="宋体" panose="02010600030101010101" pitchFamily="2" charset="-122"/>
                <a:ea typeface="宋体" panose="02010600030101010101" pitchFamily="2" charset="-122"/>
                <a:sym typeface="+mn-ea"/>
              </a:rPr>
              <a:t>）串行通信</a:t>
            </a:r>
            <a:endParaRPr lang="zh-CN" altLang="en-US"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	串行通信是指使用一条数据线，将数据一位一位地依次传输，每一位</a:t>
            </a: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数据占据一个固定的时间长度。其只需要少数几条线就可以在系统间交</a:t>
            </a: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换信息，特别适用于计算机与计算机、计算机与外设之间的远距离通信</a:t>
            </a:r>
            <a:r>
              <a:rPr lang="zh-CN" altLang="en-US" dirty="0">
                <a:latin typeface="宋体" panose="02010600030101010101" pitchFamily="2" charset="-122"/>
                <a:ea typeface="宋体" panose="02010600030101010101" pitchFamily="2" charset="-122"/>
                <a:sym typeface="+mn-ea"/>
              </a:rPr>
              <a:t>。</a:t>
            </a:r>
            <a:endParaRPr lang="zh-CN" altLang="en-US" dirty="0">
              <a:latin typeface="宋体" panose="02010600030101010101" pitchFamily="2" charset="-122"/>
              <a:ea typeface="宋体" panose="02010600030101010101" pitchFamily="2" charset="-122"/>
            </a:endParaRPr>
          </a:p>
          <a:p>
            <a:pPr>
              <a:buNone/>
            </a:pPr>
            <a:endParaRPr lang="zh-CN" altLang="en-US" dirty="0">
              <a:latin typeface="宋体" panose="02010600030101010101" pitchFamily="2" charset="-122"/>
              <a:ea typeface="宋体" panose="02010600030101010101" pitchFamily="2" charset="-122"/>
            </a:endParaRPr>
          </a:p>
          <a:p>
            <a:pPr>
              <a:buNone/>
            </a:pPr>
            <a:endParaRPr lang="en-US" altLang="zh-CN" dirty="0">
              <a:latin typeface="宋体" panose="02010600030101010101" pitchFamily="2" charset="-122"/>
              <a:ea typeface="宋体" panose="02010600030101010101" pitchFamily="2" charset="-122"/>
            </a:endParaRPr>
          </a:p>
          <a:p>
            <a:pPr eaLnBrk="1" hangingPunct="1">
              <a:buNone/>
            </a:pPr>
            <a:endParaRPr lang="en-US" altLang="zh-CN" dirty="0">
              <a:ea typeface="黑体" panose="02010609060101010101" pitchFamily="49" charset="-122"/>
            </a:endParaRPr>
          </a:p>
          <a:p>
            <a:pPr eaLnBrk="1" hangingPunct="1">
              <a:buNone/>
            </a:pP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sym typeface="+mn-ea"/>
              </a:rPr>
              <a:t>串行通信的特点：传输线少，长距离传送时成本低，且可以利用电话网</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sym typeface="+mn-ea"/>
              </a:rPr>
              <a:t>等现成的设备，但数据的传送控制比并行通信复杂。</a:t>
            </a:r>
            <a:endParaRPr>
              <a:latin typeface="宋体" panose="02010600030101010101" pitchFamily="2" charset="-122"/>
              <a:ea typeface="宋体" panose="02010600030101010101" pitchFamily="2" charset="-122"/>
              <a:cs typeface="宋体" panose="02010600030101010101" pitchFamily="2" charset="-122"/>
            </a:endParaRPr>
          </a:p>
        </p:txBody>
      </p:sp>
      <p:sp>
        <p:nvSpPr>
          <p:cNvPr id="3" name="标题 1"/>
          <p:cNvSpPr>
            <a:spLocks noGrp="1"/>
          </p:cNvSpPr>
          <p:nvPr/>
        </p:nvSpPr>
        <p:spPr>
          <a:xfrm>
            <a:off x="838200" y="300355"/>
            <a:ext cx="10515600"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a:lstStyle>
          <a:p>
            <a:r>
              <a:rPr lang="en-US" altLang="zh-CN" sz="2800" dirty="0">
                <a:latin typeface="宋体" panose="02010600030101010101" pitchFamily="2" charset="-122"/>
                <a:ea typeface="宋体" panose="02010600030101010101" pitchFamily="2" charset="-122"/>
                <a:sym typeface="+mn-ea"/>
              </a:rPr>
              <a:t>1.1 </a:t>
            </a:r>
            <a:r>
              <a:rPr lang="zh-CN" altLang="en-US" sz="2800" dirty="0">
                <a:latin typeface="宋体" panose="02010600030101010101" pitchFamily="2" charset="-122"/>
                <a:ea typeface="宋体" panose="02010600030101010101" pitchFamily="2" charset="-122"/>
                <a:sym typeface="+mn-ea"/>
              </a:rPr>
              <a:t>串行通信与并行通信</a:t>
            </a:r>
            <a:endParaRPr lang="zh-CN" altLang="en-US" sz="2800" dirty="0">
              <a:latin typeface="宋体" panose="02010600030101010101" pitchFamily="2" charset="-122"/>
              <a:ea typeface="宋体" panose="02010600030101010101" pitchFamily="2" charset="-122"/>
              <a:sym typeface="+mn-ea"/>
            </a:endParaRPr>
          </a:p>
        </p:txBody>
      </p:sp>
      <p:pic>
        <p:nvPicPr>
          <p:cNvPr id="6" name="图片 5"/>
          <p:cNvPicPr>
            <a:picLocks noChangeAspect="1"/>
          </p:cNvPicPr>
          <p:nvPr/>
        </p:nvPicPr>
        <p:blipFill>
          <a:blip r:embed="rId1"/>
          <a:stretch>
            <a:fillRect/>
          </a:stretch>
        </p:blipFill>
        <p:spPr>
          <a:xfrm>
            <a:off x="3866515" y="3018155"/>
            <a:ext cx="4457700" cy="138112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306705"/>
            <a:ext cx="10514965" cy="6149975"/>
          </a:xfrm>
        </p:spPr>
        <p:txBody>
          <a:bodyPr>
            <a:normAutofit lnSpcReduction="10000"/>
          </a:bodyPr>
          <a:p>
            <a:pPr>
              <a:buNone/>
            </a:pPr>
            <a:r>
              <a:rPr lang="zh-CN" altLang="en-US" dirty="0">
                <a:latin typeface="宋体" panose="02010600030101010101" pitchFamily="2" charset="-122"/>
                <a:ea typeface="宋体" panose="02010600030101010101" pitchFamily="2" charset="-122"/>
                <a:sym typeface="+mn-ea"/>
              </a:rPr>
              <a:t>（</a:t>
            </a:r>
            <a:r>
              <a:rPr lang="en-US" altLang="zh-CN" dirty="0">
                <a:latin typeface="宋体" panose="02010600030101010101" pitchFamily="2" charset="-122"/>
                <a:ea typeface="宋体" panose="02010600030101010101" pitchFamily="2" charset="-122"/>
                <a:sym typeface="+mn-ea"/>
              </a:rPr>
              <a:t>2</a:t>
            </a:r>
            <a:r>
              <a:rPr lang="zh-CN" altLang="en-US" dirty="0">
                <a:latin typeface="宋体" panose="02010600030101010101" pitchFamily="2" charset="-122"/>
                <a:ea typeface="宋体" panose="02010600030101010101" pitchFamily="2" charset="-122"/>
                <a:sym typeface="+mn-ea"/>
              </a:rPr>
              <a:t>）并行通信</a:t>
            </a:r>
            <a:endParaRPr lang="zh-CN" altLang="en-US"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	并行通信通常是将数据字节的各位用多条数据线同时进行传送，</a:t>
            </a:r>
            <a:endParaRPr lang="en-US" altLang="zh-CN" dirty="0">
              <a:latin typeface="宋体" panose="02010600030101010101" pitchFamily="2" charset="-122"/>
              <a:ea typeface="宋体" panose="02010600030101010101" pitchFamily="2" charset="-122"/>
              <a:sym typeface="+mn-ea"/>
            </a:endParaRPr>
          </a:p>
          <a:p>
            <a:pPr>
              <a:buNone/>
            </a:pPr>
            <a:r>
              <a:rPr lang="en-US" altLang="zh-CN" dirty="0">
                <a:latin typeface="宋体" panose="02010600030101010101" pitchFamily="2" charset="-122"/>
                <a:ea typeface="宋体" panose="02010600030101010101" pitchFamily="2" charset="-122"/>
                <a:sym typeface="+mn-ea"/>
              </a:rPr>
              <a:t>通常是8位、16位、32位等数据一起传输</a:t>
            </a:r>
            <a:r>
              <a:rPr lang="zh-CN" altLang="en-US" dirty="0">
                <a:latin typeface="宋体" panose="02010600030101010101" pitchFamily="2" charset="-122"/>
                <a:ea typeface="宋体" panose="02010600030101010101" pitchFamily="2" charset="-122"/>
                <a:sym typeface="+mn-ea"/>
              </a:rPr>
              <a:t>。</a:t>
            </a:r>
            <a:endParaRPr lang="zh-CN" altLang="en-US" dirty="0">
              <a:latin typeface="宋体" panose="02010600030101010101" pitchFamily="2" charset="-122"/>
              <a:ea typeface="宋体" panose="02010600030101010101" pitchFamily="2" charset="-122"/>
            </a:endParaRPr>
          </a:p>
          <a:p>
            <a:pPr>
              <a:buNone/>
            </a:pPr>
            <a:endParaRPr lang="zh-CN" altLang="en-US" dirty="0">
              <a:latin typeface="宋体" panose="02010600030101010101" pitchFamily="2" charset="-122"/>
              <a:ea typeface="宋体" panose="02010600030101010101" pitchFamily="2" charset="-122"/>
            </a:endParaRPr>
          </a:p>
          <a:p>
            <a:pPr>
              <a:buNone/>
            </a:pPr>
            <a:endParaRPr lang="en-US" altLang="zh-CN" dirty="0">
              <a:latin typeface="宋体" panose="02010600030101010101" pitchFamily="2" charset="-122"/>
              <a:ea typeface="宋体" panose="02010600030101010101" pitchFamily="2" charset="-122"/>
            </a:endParaRPr>
          </a:p>
          <a:p>
            <a:pPr eaLnBrk="1" hangingPunct="1">
              <a:buNone/>
            </a:pPr>
            <a:endParaRPr lang="en-US" altLang="zh-CN" dirty="0">
              <a:ea typeface="黑体" panose="02010609060101010101" pitchFamily="49" charset="-122"/>
            </a:endParaRPr>
          </a:p>
          <a:p>
            <a:pPr eaLnBrk="1" hangingPunct="1">
              <a:buNone/>
            </a:pPr>
            <a:endParaRPr lang="en-US" altLang="zh-CN" dirty="0">
              <a:latin typeface="宋体" panose="02010600030101010101" pitchFamily="2" charset="-122"/>
              <a:ea typeface="宋体" panose="02010600030101010101" pitchFamily="2" charset="-122"/>
            </a:endParaRPr>
          </a:p>
          <a:p>
            <a:pPr eaLnBrk="1" hangingPunct="1">
              <a:buNone/>
            </a:pPr>
            <a:endParaRPr lang="en-US" altLang="zh-CN" dirty="0">
              <a:latin typeface="宋体" panose="02010600030101010101" pitchFamily="2" charset="-122"/>
              <a:ea typeface="宋体" panose="02010600030101010101" pitchFamily="2" charset="-122"/>
            </a:endParaRPr>
          </a:p>
          <a:p>
            <a:pPr eaLnBrk="1" hangingPunct="1">
              <a:buNone/>
            </a:pP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sym typeface="+mn-ea"/>
              </a:rPr>
              <a:t>	并行通信的特点：控制简单、传输速度快；由于传输线较多，长</a:t>
            </a:r>
            <a:endParaRPr lang="en-US" altLang="zh-CN" dirty="0">
              <a:latin typeface="宋体" panose="02010600030101010101" pitchFamily="2" charset="-122"/>
              <a:ea typeface="宋体" panose="02010600030101010101" pitchFamily="2" charset="-122"/>
              <a:sym typeface="+mn-ea"/>
            </a:endParaRPr>
          </a:p>
          <a:p>
            <a:pPr eaLnBrk="1" hangingPunct="1">
              <a:buNone/>
            </a:pPr>
            <a:r>
              <a:rPr lang="en-US" altLang="zh-CN" dirty="0">
                <a:latin typeface="宋体" panose="02010600030101010101" pitchFamily="2" charset="-122"/>
                <a:ea typeface="宋体" panose="02010600030101010101" pitchFamily="2" charset="-122"/>
                <a:sym typeface="+mn-ea"/>
              </a:rPr>
              <a:t>距离传送时成本高且接收方的各位同时接收存在困难，抗干扰能力</a:t>
            </a:r>
            <a:endParaRPr lang="en-US" altLang="zh-CN" dirty="0">
              <a:latin typeface="宋体" panose="02010600030101010101" pitchFamily="2" charset="-122"/>
              <a:ea typeface="宋体" panose="02010600030101010101" pitchFamily="2" charset="-122"/>
              <a:sym typeface="+mn-ea"/>
            </a:endParaRPr>
          </a:p>
          <a:p>
            <a:pPr eaLnBrk="1" hangingPunct="1">
              <a:buNone/>
            </a:pPr>
            <a:r>
              <a:rPr lang="en-US" altLang="zh-CN" dirty="0">
                <a:latin typeface="宋体" panose="02010600030101010101" pitchFamily="2" charset="-122"/>
                <a:ea typeface="宋体" panose="02010600030101010101" pitchFamily="2" charset="-122"/>
                <a:sym typeface="+mn-ea"/>
              </a:rPr>
              <a:t>差 。</a:t>
            </a:r>
            <a:endParaRPr>
              <a:latin typeface="宋体" panose="02010600030101010101" pitchFamily="2" charset="-122"/>
              <a:ea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1"/>
          <a:stretch>
            <a:fillRect/>
          </a:stretch>
        </p:blipFill>
        <p:spPr>
          <a:xfrm>
            <a:off x="3013075" y="1843405"/>
            <a:ext cx="5276215" cy="236601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960755"/>
            <a:ext cx="10361930" cy="5495925"/>
          </a:xfrm>
        </p:spPr>
        <p:txBody>
          <a:bodyPr>
            <a:normAutofit fontScale="70000"/>
          </a:bodyPr>
          <a:p>
            <a:pPr>
              <a:buNone/>
            </a:pPr>
            <a:r>
              <a:rPr lang="zh-CN" altLang="en-US" dirty="0">
                <a:latin typeface="宋体" panose="02010600030101010101" pitchFamily="2" charset="-122"/>
                <a:ea typeface="宋体" panose="02010600030101010101" pitchFamily="2" charset="-122"/>
                <a:sym typeface="+mn-ea"/>
              </a:rPr>
              <a:t>（</a:t>
            </a:r>
            <a:r>
              <a:rPr lang="en-US" altLang="zh-CN" dirty="0">
                <a:latin typeface="宋体" panose="02010600030101010101" pitchFamily="2" charset="-122"/>
                <a:ea typeface="宋体" panose="02010600030101010101" pitchFamily="2" charset="-122"/>
                <a:sym typeface="+mn-ea"/>
              </a:rPr>
              <a:t>1</a:t>
            </a:r>
            <a:r>
              <a:rPr lang="zh-CN" altLang="en-US" dirty="0">
                <a:latin typeface="宋体" panose="02010600030101010101" pitchFamily="2" charset="-122"/>
                <a:ea typeface="宋体" panose="02010600030101010101" pitchFamily="2" charset="-122"/>
                <a:sym typeface="+mn-ea"/>
              </a:rPr>
              <a:t>）异步通信</a:t>
            </a:r>
            <a:endParaRPr lang="zh-CN" altLang="en-US"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	异步通信是指通信的发送与接收设备使用各自的时钟控制数据的发送和接收过程。为使双</a:t>
            </a:r>
            <a:endParaRPr lang="en-US" altLang="zh-CN" dirty="0">
              <a:latin typeface="宋体" panose="02010600030101010101" pitchFamily="2" charset="-122"/>
              <a:ea typeface="宋体" panose="02010600030101010101" pitchFamily="2" charset="-122"/>
              <a:sym typeface="+mn-ea"/>
            </a:endParaRPr>
          </a:p>
          <a:p>
            <a:pPr>
              <a:buNone/>
            </a:pPr>
            <a:r>
              <a:rPr lang="en-US" altLang="zh-CN" dirty="0">
                <a:latin typeface="宋体" panose="02010600030101010101" pitchFamily="2" charset="-122"/>
                <a:ea typeface="宋体" panose="02010600030101010101" pitchFamily="2" charset="-122"/>
                <a:sym typeface="+mn-ea"/>
              </a:rPr>
              <a:t>方的收发协调，要求发送和接收设备的时钟尽可能一致。</a:t>
            </a: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	异步通信是以字符（构成的帧）为单位进行传输，字符与字符之间的间隙（时间间隔）是</a:t>
            </a:r>
            <a:endParaRPr lang="en-US" altLang="zh-CN" dirty="0">
              <a:latin typeface="宋体" panose="02010600030101010101" pitchFamily="2" charset="-122"/>
              <a:ea typeface="宋体" panose="02010600030101010101" pitchFamily="2" charset="-122"/>
              <a:sym typeface="+mn-ea"/>
            </a:endParaRPr>
          </a:p>
          <a:p>
            <a:pPr>
              <a:buNone/>
            </a:pPr>
            <a:r>
              <a:rPr lang="en-US" altLang="zh-CN" dirty="0">
                <a:latin typeface="宋体" panose="02010600030101010101" pitchFamily="2" charset="-122"/>
                <a:ea typeface="宋体" panose="02010600030101010101" pitchFamily="2" charset="-122"/>
                <a:sym typeface="+mn-ea"/>
              </a:rPr>
              <a:t>任意的，但每个字符中的各位是以固定的时间传送的，即字符之间不一定有“位间隔”的整</a:t>
            </a:r>
            <a:endParaRPr lang="en-US" altLang="zh-CN" dirty="0">
              <a:latin typeface="宋体" panose="02010600030101010101" pitchFamily="2" charset="-122"/>
              <a:ea typeface="宋体" panose="02010600030101010101" pitchFamily="2" charset="-122"/>
              <a:sym typeface="+mn-ea"/>
            </a:endParaRPr>
          </a:p>
          <a:p>
            <a:pPr>
              <a:buNone/>
            </a:pPr>
            <a:r>
              <a:rPr lang="en-US" altLang="zh-CN" dirty="0">
                <a:latin typeface="宋体" panose="02010600030101010101" pitchFamily="2" charset="-122"/>
                <a:ea typeface="宋体" panose="02010600030101010101" pitchFamily="2" charset="-122"/>
                <a:sym typeface="+mn-ea"/>
              </a:rPr>
              <a:t>数倍的关系，但同一字符内的各位之间的距离均为“位间隔”的整数倍</a:t>
            </a:r>
            <a:r>
              <a:rPr lang="zh-CN" altLang="en-US" dirty="0">
                <a:latin typeface="宋体" panose="02010600030101010101" pitchFamily="2" charset="-122"/>
                <a:ea typeface="宋体" panose="02010600030101010101" pitchFamily="2" charset="-122"/>
                <a:sym typeface="+mn-ea"/>
              </a:rPr>
              <a:t>。</a:t>
            </a:r>
            <a:endParaRPr lang="zh-CN" altLang="en-US" dirty="0">
              <a:latin typeface="宋体" panose="02010600030101010101" pitchFamily="2" charset="-122"/>
              <a:ea typeface="宋体" panose="02010600030101010101" pitchFamily="2" charset="-122"/>
            </a:endParaRPr>
          </a:p>
          <a:p>
            <a:pPr>
              <a:buNone/>
            </a:pPr>
            <a:endParaRPr lang="zh-CN" altLang="en-US" dirty="0">
              <a:latin typeface="宋体" panose="02010600030101010101" pitchFamily="2" charset="-122"/>
              <a:ea typeface="宋体" panose="02010600030101010101" pitchFamily="2" charset="-122"/>
            </a:endParaRPr>
          </a:p>
          <a:p>
            <a:pPr>
              <a:buNone/>
            </a:pPr>
            <a:endParaRPr lang="en-US" altLang="zh-CN" dirty="0">
              <a:latin typeface="宋体" panose="02010600030101010101" pitchFamily="2" charset="-122"/>
              <a:ea typeface="宋体" panose="02010600030101010101" pitchFamily="2" charset="-122"/>
            </a:endParaRPr>
          </a:p>
          <a:p>
            <a:pPr eaLnBrk="1" hangingPunct="1">
              <a:buNone/>
            </a:pPr>
            <a:endParaRPr lang="en-US" altLang="zh-CN" dirty="0">
              <a:ea typeface="黑体" panose="02010609060101010101" pitchFamily="49" charset="-122"/>
            </a:endParaRPr>
          </a:p>
          <a:p>
            <a:pPr eaLnBrk="1" hangingPunct="1">
              <a:buNone/>
            </a:pP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sym typeface="+mn-ea"/>
              </a:rPr>
              <a:t>	异步通信的特点：不要求收发双方时钟的严格一致，实现容易，设备开销较小，但每个字</a:t>
            </a:r>
            <a:endParaRPr lang="en-US" altLang="zh-CN" dirty="0">
              <a:latin typeface="宋体" panose="02010600030101010101" pitchFamily="2" charset="-122"/>
              <a:ea typeface="宋体" panose="02010600030101010101" pitchFamily="2" charset="-122"/>
              <a:sym typeface="+mn-ea"/>
            </a:endParaRPr>
          </a:p>
          <a:p>
            <a:pPr eaLnBrk="1" hangingPunct="1">
              <a:buNone/>
            </a:pPr>
            <a:r>
              <a:rPr lang="en-US" altLang="zh-CN" dirty="0">
                <a:latin typeface="宋体" panose="02010600030101010101" pitchFamily="2" charset="-122"/>
                <a:ea typeface="宋体" panose="02010600030101010101" pitchFamily="2" charset="-122"/>
                <a:sym typeface="+mn-ea"/>
              </a:rPr>
              <a:t>符要附加2～3位用于起止位，各帧之间还有间隔，因此传输效率不高 。</a:t>
            </a:r>
            <a:endParaRPr>
              <a:latin typeface="宋体" panose="02010600030101010101" pitchFamily="2" charset="-122"/>
              <a:ea typeface="宋体" panose="02010600030101010101" pitchFamily="2" charset="-122"/>
              <a:cs typeface="宋体" panose="02010600030101010101" pitchFamily="2" charset="-122"/>
            </a:endParaRPr>
          </a:p>
        </p:txBody>
      </p:sp>
      <p:sp>
        <p:nvSpPr>
          <p:cNvPr id="3" name="标题 1"/>
          <p:cNvSpPr>
            <a:spLocks noGrp="1"/>
          </p:cNvSpPr>
          <p:nvPr/>
        </p:nvSpPr>
        <p:spPr>
          <a:xfrm>
            <a:off x="838200" y="300355"/>
            <a:ext cx="10515600"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a:lstStyle>
          <a:p>
            <a:r>
              <a:rPr lang="en-US" altLang="zh-CN" sz="2800" dirty="0">
                <a:latin typeface="宋体" panose="02010600030101010101" pitchFamily="2" charset="-122"/>
                <a:ea typeface="宋体" panose="02010600030101010101" pitchFamily="2" charset="-122"/>
                <a:sym typeface="+mn-ea"/>
              </a:rPr>
              <a:t>1.2 </a:t>
            </a:r>
            <a:r>
              <a:rPr lang="zh-CN" altLang="en-US" sz="2800" dirty="0">
                <a:latin typeface="宋体" panose="02010600030101010101" pitchFamily="2" charset="-122"/>
                <a:ea typeface="宋体" panose="02010600030101010101" pitchFamily="2" charset="-122"/>
                <a:sym typeface="+mn-ea"/>
              </a:rPr>
              <a:t>异步通信与同步通信</a:t>
            </a:r>
            <a:endParaRPr lang="zh-CN" altLang="en-US" sz="2800" dirty="0">
              <a:latin typeface="宋体" panose="02010600030101010101" pitchFamily="2" charset="-122"/>
              <a:ea typeface="宋体" panose="02010600030101010101" pitchFamily="2" charset="-122"/>
              <a:sym typeface="+mn-ea"/>
            </a:endParaRPr>
          </a:p>
        </p:txBody>
      </p:sp>
      <p:pic>
        <p:nvPicPr>
          <p:cNvPr id="4" name="图片 3"/>
          <p:cNvPicPr>
            <a:picLocks noChangeAspect="1"/>
          </p:cNvPicPr>
          <p:nvPr/>
        </p:nvPicPr>
        <p:blipFill>
          <a:blip r:embed="rId1"/>
          <a:stretch>
            <a:fillRect/>
          </a:stretch>
        </p:blipFill>
        <p:spPr>
          <a:xfrm>
            <a:off x="1659255" y="3354070"/>
            <a:ext cx="4171950" cy="1457325"/>
          </a:xfrm>
          <a:prstGeom prst="rect">
            <a:avLst/>
          </a:prstGeom>
        </p:spPr>
      </p:pic>
      <p:pic>
        <p:nvPicPr>
          <p:cNvPr id="7" name="图片 6"/>
          <p:cNvPicPr>
            <a:picLocks noChangeAspect="1"/>
          </p:cNvPicPr>
          <p:nvPr/>
        </p:nvPicPr>
        <p:blipFill>
          <a:blip r:embed="rId2"/>
          <a:stretch>
            <a:fillRect/>
          </a:stretch>
        </p:blipFill>
        <p:spPr>
          <a:xfrm>
            <a:off x="6151245" y="3354070"/>
            <a:ext cx="4944110" cy="145796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960755"/>
            <a:ext cx="10361930" cy="5495925"/>
          </a:xfrm>
        </p:spPr>
        <p:txBody>
          <a:bodyPr>
            <a:normAutofit/>
          </a:bodyPr>
          <a:p>
            <a:pPr>
              <a:buNone/>
            </a:pPr>
            <a:r>
              <a:rPr lang="zh-CN" altLang="en-US" dirty="0">
                <a:latin typeface="宋体" panose="02010600030101010101" pitchFamily="2" charset="-122"/>
                <a:ea typeface="宋体" panose="02010600030101010101" pitchFamily="2" charset="-122"/>
                <a:sym typeface="+mn-ea"/>
              </a:rPr>
              <a:t>（</a:t>
            </a:r>
            <a:r>
              <a:rPr lang="en-US" altLang="zh-CN" dirty="0">
                <a:latin typeface="宋体" panose="02010600030101010101" pitchFamily="2" charset="-122"/>
                <a:ea typeface="宋体" panose="02010600030101010101" pitchFamily="2" charset="-122"/>
                <a:sym typeface="+mn-ea"/>
              </a:rPr>
              <a:t>2</a:t>
            </a:r>
            <a:r>
              <a:rPr lang="zh-CN" altLang="en-US" dirty="0">
                <a:latin typeface="宋体" panose="02010600030101010101" pitchFamily="2" charset="-122"/>
                <a:ea typeface="宋体" panose="02010600030101010101" pitchFamily="2" charset="-122"/>
                <a:sym typeface="+mn-ea"/>
              </a:rPr>
              <a:t>）同步通信</a:t>
            </a:r>
            <a:endParaRPr lang="zh-CN" altLang="en-US"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	同步通信时要建立发送方时钟对接收方时钟的直接控制，使双</a:t>
            </a:r>
            <a:endParaRPr lang="en-US" altLang="zh-CN" dirty="0">
              <a:latin typeface="宋体" panose="02010600030101010101" pitchFamily="2" charset="-122"/>
              <a:ea typeface="宋体" panose="02010600030101010101" pitchFamily="2" charset="-122"/>
              <a:sym typeface="+mn-ea"/>
            </a:endParaRPr>
          </a:p>
          <a:p>
            <a:pPr>
              <a:buNone/>
            </a:pPr>
            <a:r>
              <a:rPr lang="en-US" altLang="zh-CN" dirty="0">
                <a:latin typeface="宋体" panose="02010600030101010101" pitchFamily="2" charset="-122"/>
                <a:ea typeface="宋体" panose="02010600030101010101" pitchFamily="2" charset="-122"/>
                <a:sym typeface="+mn-ea"/>
              </a:rPr>
              <a:t>方达到完全同步。此时，传输数据的位之间的距离均为“位间隔”</a:t>
            </a:r>
            <a:endParaRPr lang="en-US" altLang="zh-CN" dirty="0">
              <a:latin typeface="宋体" panose="02010600030101010101" pitchFamily="2" charset="-122"/>
              <a:ea typeface="宋体" panose="02010600030101010101" pitchFamily="2" charset="-122"/>
              <a:sym typeface="+mn-ea"/>
            </a:endParaRPr>
          </a:p>
          <a:p>
            <a:pPr>
              <a:buNone/>
            </a:pPr>
            <a:r>
              <a:rPr lang="en-US" altLang="zh-CN" dirty="0">
                <a:latin typeface="宋体" panose="02010600030101010101" pitchFamily="2" charset="-122"/>
                <a:ea typeface="宋体" panose="02010600030101010101" pitchFamily="2" charset="-122"/>
                <a:sym typeface="+mn-ea"/>
              </a:rPr>
              <a:t>的整数倍，同时传送的字符间不留间隙，即保持位同步关系，也</a:t>
            </a:r>
            <a:endParaRPr lang="en-US" altLang="zh-CN" dirty="0">
              <a:latin typeface="宋体" panose="02010600030101010101" pitchFamily="2" charset="-122"/>
              <a:ea typeface="宋体" panose="02010600030101010101" pitchFamily="2" charset="-122"/>
              <a:sym typeface="+mn-ea"/>
            </a:endParaRPr>
          </a:p>
          <a:p>
            <a:pPr>
              <a:buNone/>
            </a:pPr>
            <a:r>
              <a:rPr lang="en-US" altLang="zh-CN" dirty="0">
                <a:latin typeface="宋体" panose="02010600030101010101" pitchFamily="2" charset="-122"/>
                <a:ea typeface="宋体" panose="02010600030101010101" pitchFamily="2" charset="-122"/>
                <a:sym typeface="+mn-ea"/>
              </a:rPr>
              <a:t>保持字符同步关系。发送方对接收方的同步可以通过两种方法实</a:t>
            </a:r>
            <a:endParaRPr lang="en-US" altLang="zh-CN" dirty="0">
              <a:latin typeface="宋体" panose="02010600030101010101" pitchFamily="2" charset="-122"/>
              <a:ea typeface="宋体" panose="02010600030101010101" pitchFamily="2" charset="-122"/>
              <a:sym typeface="+mn-ea"/>
            </a:endParaRPr>
          </a:p>
          <a:p>
            <a:pPr>
              <a:buNone/>
            </a:pPr>
            <a:r>
              <a:rPr lang="en-US" altLang="zh-CN" dirty="0">
                <a:latin typeface="宋体" panose="02010600030101010101" pitchFamily="2" charset="-122"/>
                <a:ea typeface="宋体" panose="02010600030101010101" pitchFamily="2" charset="-122"/>
                <a:sym typeface="+mn-ea"/>
              </a:rPr>
              <a:t>现</a:t>
            </a:r>
            <a:r>
              <a:rPr lang="zh-CN" altLang="en-US" dirty="0">
                <a:latin typeface="宋体" panose="02010600030101010101" pitchFamily="2" charset="-122"/>
                <a:ea typeface="宋体" panose="02010600030101010101" pitchFamily="2" charset="-122"/>
                <a:sym typeface="+mn-ea"/>
              </a:rPr>
              <a:t>。</a:t>
            </a:r>
            <a:endParaRPr>
              <a:latin typeface="宋体" panose="02010600030101010101" pitchFamily="2" charset="-122"/>
              <a:ea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1"/>
          <a:stretch>
            <a:fillRect/>
          </a:stretch>
        </p:blipFill>
        <p:spPr>
          <a:xfrm>
            <a:off x="2557780" y="3622675"/>
            <a:ext cx="7466330" cy="259842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960755"/>
            <a:ext cx="10361930" cy="5495925"/>
          </a:xfrm>
        </p:spPr>
        <p:txBody>
          <a:bodyPr>
            <a:normAutofit/>
          </a:bodyPr>
          <a:p>
            <a:pPr>
              <a:buNone/>
            </a:pPr>
            <a:r>
              <a:rPr lang="zh-CN" altLang="en-US" dirty="0">
                <a:latin typeface="宋体" panose="02010600030101010101" pitchFamily="2" charset="-122"/>
                <a:ea typeface="宋体" panose="02010600030101010101" pitchFamily="2" charset="-122"/>
                <a:sym typeface="+mn-ea"/>
              </a:rPr>
              <a:t>（</a:t>
            </a:r>
            <a:r>
              <a:rPr lang="en-US" altLang="zh-CN" dirty="0">
                <a:latin typeface="宋体" panose="02010600030101010101" pitchFamily="2" charset="-122"/>
                <a:ea typeface="宋体" panose="02010600030101010101" pitchFamily="2" charset="-122"/>
                <a:sym typeface="+mn-ea"/>
              </a:rPr>
              <a:t>1</a:t>
            </a:r>
            <a:r>
              <a:rPr lang="zh-CN" altLang="en-US" dirty="0">
                <a:latin typeface="宋体" panose="02010600030101010101" pitchFamily="2" charset="-122"/>
                <a:ea typeface="宋体" panose="02010600030101010101" pitchFamily="2" charset="-122"/>
                <a:sym typeface="+mn-ea"/>
              </a:rPr>
              <a:t>）单工通信</a:t>
            </a:r>
            <a:endParaRPr lang="zh-CN" altLang="en-US"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	单工是指数据传输仅能沿一个方向，不能实现反向传输</a:t>
            </a:r>
            <a:r>
              <a:rPr lang="zh-CN" altLang="en-US" dirty="0">
                <a:latin typeface="宋体" panose="02010600030101010101" pitchFamily="2" charset="-122"/>
                <a:ea typeface="宋体" panose="02010600030101010101" pitchFamily="2" charset="-122"/>
                <a:sym typeface="+mn-ea"/>
              </a:rPr>
              <a:t>。</a:t>
            </a:r>
            <a:endParaRPr lang="zh-CN" altLang="en-US" dirty="0">
              <a:latin typeface="宋体" panose="02010600030101010101" pitchFamily="2" charset="-122"/>
              <a:ea typeface="宋体" panose="02010600030101010101" pitchFamily="2" charset="-122"/>
              <a:sym typeface="+mn-ea"/>
            </a:endParaRPr>
          </a:p>
          <a:p>
            <a:pPr>
              <a:buNone/>
            </a:pPr>
            <a:endParaRPr>
              <a:latin typeface="宋体" panose="02010600030101010101" pitchFamily="2" charset="-122"/>
              <a:ea typeface="宋体" panose="02010600030101010101" pitchFamily="2" charset="-122"/>
              <a:cs typeface="宋体" panose="02010600030101010101" pitchFamily="2" charset="-122"/>
            </a:endParaRPr>
          </a:p>
          <a:p>
            <a:pPr>
              <a:buNone/>
            </a:pPr>
            <a:endParaRPr>
              <a:latin typeface="宋体" panose="02010600030101010101" pitchFamily="2" charset="-122"/>
              <a:ea typeface="宋体" panose="02010600030101010101" pitchFamily="2" charset="-122"/>
              <a:cs typeface="宋体" panose="02010600030101010101" pitchFamily="2" charset="-122"/>
            </a:endParaRPr>
          </a:p>
          <a:p>
            <a:pPr>
              <a:buNone/>
            </a:pPr>
            <a:endParaRPr>
              <a:latin typeface="宋体" panose="02010600030101010101" pitchFamily="2" charset="-122"/>
              <a:ea typeface="宋体" panose="02010600030101010101" pitchFamily="2" charset="-122"/>
              <a:cs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sym typeface="+mn-ea"/>
              </a:rPr>
              <a:t>（</a:t>
            </a:r>
            <a:r>
              <a:rPr lang="en-US" altLang="zh-CN" dirty="0">
                <a:latin typeface="宋体" panose="02010600030101010101" pitchFamily="2" charset="-122"/>
                <a:ea typeface="宋体" panose="02010600030101010101" pitchFamily="2" charset="-122"/>
                <a:sym typeface="+mn-ea"/>
              </a:rPr>
              <a:t>2</a:t>
            </a:r>
            <a:r>
              <a:rPr lang="zh-CN" altLang="en-US" dirty="0">
                <a:latin typeface="宋体" panose="02010600030101010101" pitchFamily="2" charset="-122"/>
                <a:ea typeface="宋体" panose="02010600030101010101" pitchFamily="2" charset="-122"/>
                <a:sym typeface="+mn-ea"/>
              </a:rPr>
              <a:t>）半双工通信</a:t>
            </a:r>
            <a:endParaRPr lang="zh-CN" altLang="en-US"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	半双工是指数据传输可以沿两个方向，但需要分时进行</a:t>
            </a:r>
            <a:r>
              <a:rPr lang="zh-CN" altLang="en-US" dirty="0">
                <a:latin typeface="宋体" panose="02010600030101010101" pitchFamily="2" charset="-122"/>
                <a:ea typeface="宋体" panose="02010600030101010101" pitchFamily="2" charset="-122"/>
                <a:sym typeface="+mn-ea"/>
              </a:rPr>
              <a:t>。</a:t>
            </a:r>
            <a:endParaRPr>
              <a:latin typeface="宋体" panose="02010600030101010101" pitchFamily="2" charset="-122"/>
              <a:ea typeface="宋体" panose="02010600030101010101" pitchFamily="2" charset="-122"/>
              <a:cs typeface="宋体" panose="02010600030101010101" pitchFamily="2" charset="-122"/>
            </a:endParaRPr>
          </a:p>
        </p:txBody>
      </p:sp>
      <p:sp>
        <p:nvSpPr>
          <p:cNvPr id="3" name="标题 1"/>
          <p:cNvSpPr>
            <a:spLocks noGrp="1"/>
          </p:cNvSpPr>
          <p:nvPr/>
        </p:nvSpPr>
        <p:spPr>
          <a:xfrm>
            <a:off x="838200" y="300355"/>
            <a:ext cx="10515600"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a:lstStyle>
          <a:p>
            <a:r>
              <a:rPr lang="en-US" altLang="zh-CN" sz="2800" dirty="0">
                <a:latin typeface="宋体" panose="02010600030101010101" pitchFamily="2" charset="-122"/>
                <a:ea typeface="宋体" panose="02010600030101010101" pitchFamily="2" charset="-122"/>
                <a:sym typeface="+mn-ea"/>
              </a:rPr>
              <a:t>1.3 </a:t>
            </a:r>
            <a:r>
              <a:rPr lang="zh-CN" altLang="en-US" sz="2800" dirty="0">
                <a:latin typeface="宋体" panose="02010600030101010101" pitchFamily="2" charset="-122"/>
                <a:ea typeface="宋体" panose="02010600030101010101" pitchFamily="2" charset="-122"/>
                <a:sym typeface="+mn-ea"/>
              </a:rPr>
              <a:t>单工、半双工与全双工通信</a:t>
            </a:r>
            <a:endParaRPr lang="zh-CN" altLang="en-US" sz="2800" dirty="0">
              <a:latin typeface="宋体" panose="02010600030101010101" pitchFamily="2" charset="-122"/>
              <a:ea typeface="宋体" panose="02010600030101010101" pitchFamily="2" charset="-122"/>
              <a:sym typeface="+mn-ea"/>
            </a:endParaRPr>
          </a:p>
        </p:txBody>
      </p:sp>
      <p:pic>
        <p:nvPicPr>
          <p:cNvPr id="2" name="图片 1"/>
          <p:cNvPicPr>
            <a:picLocks noChangeAspect="1"/>
          </p:cNvPicPr>
          <p:nvPr/>
        </p:nvPicPr>
        <p:blipFill>
          <a:blip r:embed="rId1"/>
          <a:stretch>
            <a:fillRect/>
          </a:stretch>
        </p:blipFill>
        <p:spPr>
          <a:xfrm>
            <a:off x="4203065" y="1998980"/>
            <a:ext cx="1950085" cy="1468755"/>
          </a:xfrm>
          <a:prstGeom prst="rect">
            <a:avLst/>
          </a:prstGeom>
        </p:spPr>
      </p:pic>
      <p:pic>
        <p:nvPicPr>
          <p:cNvPr id="6" name="图片 5"/>
          <p:cNvPicPr>
            <a:picLocks noChangeAspect="1"/>
          </p:cNvPicPr>
          <p:nvPr/>
        </p:nvPicPr>
        <p:blipFill>
          <a:blip r:embed="rId2"/>
          <a:stretch>
            <a:fillRect/>
          </a:stretch>
        </p:blipFill>
        <p:spPr>
          <a:xfrm>
            <a:off x="4203065" y="4509135"/>
            <a:ext cx="1950085" cy="149987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431800"/>
            <a:ext cx="10361930" cy="6024880"/>
          </a:xfrm>
        </p:spPr>
        <p:txBody>
          <a:bodyPr>
            <a:normAutofit/>
          </a:bodyPr>
          <a:p>
            <a:pPr>
              <a:buNone/>
            </a:pPr>
            <a:r>
              <a:rPr lang="zh-CN" altLang="en-US" dirty="0">
                <a:latin typeface="宋体" panose="02010600030101010101" pitchFamily="2" charset="-122"/>
                <a:ea typeface="宋体" panose="02010600030101010101" pitchFamily="2" charset="-122"/>
                <a:sym typeface="+mn-ea"/>
              </a:rPr>
              <a:t>（</a:t>
            </a:r>
            <a:r>
              <a:rPr lang="en-US" altLang="zh-CN" dirty="0">
                <a:latin typeface="宋体" panose="02010600030101010101" pitchFamily="2" charset="-122"/>
                <a:ea typeface="宋体" panose="02010600030101010101" pitchFamily="2" charset="-122"/>
                <a:sym typeface="+mn-ea"/>
              </a:rPr>
              <a:t>3</a:t>
            </a:r>
            <a:r>
              <a:rPr lang="zh-CN" altLang="en-US" dirty="0">
                <a:latin typeface="宋体" panose="02010600030101010101" pitchFamily="2" charset="-122"/>
                <a:ea typeface="宋体" panose="02010600030101010101" pitchFamily="2" charset="-122"/>
                <a:sym typeface="+mn-ea"/>
              </a:rPr>
              <a:t>）全双工通信</a:t>
            </a:r>
            <a:endParaRPr lang="zh-CN" altLang="en-US"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	全双工是指数据可以同时进行双向传输</a:t>
            </a:r>
            <a:r>
              <a:rPr lang="zh-CN" altLang="en-US" dirty="0">
                <a:latin typeface="宋体" panose="02010600030101010101" pitchFamily="2" charset="-122"/>
                <a:ea typeface="宋体" panose="02010600030101010101" pitchFamily="2" charset="-122"/>
                <a:sym typeface="+mn-ea"/>
              </a:rPr>
              <a:t>。</a:t>
            </a:r>
            <a:endParaRPr>
              <a:latin typeface="宋体" panose="02010600030101010101" pitchFamily="2" charset="-122"/>
              <a:ea typeface="宋体" panose="02010600030101010101" pitchFamily="2" charset="-122"/>
              <a:cs typeface="宋体" panose="02010600030101010101" pitchFamily="2" charset="-122"/>
            </a:endParaRPr>
          </a:p>
        </p:txBody>
      </p:sp>
      <p:pic>
        <p:nvPicPr>
          <p:cNvPr id="3" name="图片 2"/>
          <p:cNvPicPr>
            <a:picLocks noChangeAspect="1"/>
          </p:cNvPicPr>
          <p:nvPr/>
        </p:nvPicPr>
        <p:blipFill>
          <a:blip r:embed="rId1"/>
          <a:stretch>
            <a:fillRect/>
          </a:stretch>
        </p:blipFill>
        <p:spPr>
          <a:xfrm>
            <a:off x="3917315" y="1669415"/>
            <a:ext cx="2574290" cy="195834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960755"/>
            <a:ext cx="10361930" cy="5495925"/>
          </a:xfrm>
        </p:spPr>
        <p:txBody>
          <a:bodyPr>
            <a:normAutofit/>
          </a:bodyPr>
          <a:p>
            <a:pPr>
              <a:buNone/>
            </a:pPr>
            <a:r>
              <a:rPr lang="en-US" altLang="zh-CN" dirty="0">
                <a:latin typeface="宋体" panose="02010600030101010101" pitchFamily="2" charset="-122"/>
                <a:ea typeface="宋体" panose="02010600030101010101" pitchFamily="2" charset="-122"/>
                <a:sym typeface="+mn-ea"/>
              </a:rPr>
              <a:t>	</a:t>
            </a:r>
            <a:r>
              <a:rPr lang="zh-CN" altLang="en-US" dirty="0">
                <a:latin typeface="宋体" panose="02010600030101010101" pitchFamily="2" charset="-122"/>
                <a:ea typeface="宋体" panose="02010600030101010101" pitchFamily="2" charset="-122"/>
                <a:sym typeface="+mn-ea"/>
              </a:rPr>
              <a:t>衡量通信性能的一个非常重要的参数就是通信速率，通常以比</a:t>
            </a:r>
            <a:endParaRPr lang="zh-CN" altLang="en-US" dirty="0">
              <a:latin typeface="宋体" panose="02010600030101010101" pitchFamily="2" charset="-122"/>
              <a:ea typeface="宋体" panose="02010600030101010101" pitchFamily="2" charset="-122"/>
              <a:sym typeface="+mn-ea"/>
            </a:endParaRPr>
          </a:p>
          <a:p>
            <a:pPr>
              <a:buNone/>
            </a:pPr>
            <a:r>
              <a:rPr lang="zh-CN" altLang="en-US" dirty="0">
                <a:latin typeface="宋体" panose="02010600030101010101" pitchFamily="2" charset="-122"/>
                <a:ea typeface="宋体" panose="02010600030101010101" pitchFamily="2" charset="-122"/>
                <a:sym typeface="+mn-ea"/>
              </a:rPr>
              <a:t>特率(Bitrate)来表示。比特率是每秒钟传输二进制代码的位数，</a:t>
            </a:r>
            <a:endParaRPr lang="zh-CN" altLang="en-US" dirty="0">
              <a:latin typeface="宋体" panose="02010600030101010101" pitchFamily="2" charset="-122"/>
              <a:ea typeface="宋体" panose="02010600030101010101" pitchFamily="2" charset="-122"/>
              <a:sym typeface="+mn-ea"/>
            </a:endParaRPr>
          </a:p>
          <a:p>
            <a:pPr>
              <a:buNone/>
            </a:pPr>
            <a:r>
              <a:rPr lang="zh-CN" altLang="en-US" dirty="0">
                <a:latin typeface="宋体" panose="02010600030101010101" pitchFamily="2" charset="-122"/>
                <a:ea typeface="宋体" panose="02010600030101010101" pitchFamily="2" charset="-122"/>
                <a:sym typeface="+mn-ea"/>
              </a:rPr>
              <a:t>单位是：位／秒（bps）。如每秒钟传送240个字符，而每个字符</a:t>
            </a:r>
            <a:endParaRPr lang="zh-CN" altLang="en-US" dirty="0">
              <a:latin typeface="宋体" panose="02010600030101010101" pitchFamily="2" charset="-122"/>
              <a:ea typeface="宋体" panose="02010600030101010101" pitchFamily="2" charset="-122"/>
              <a:sym typeface="+mn-ea"/>
            </a:endParaRPr>
          </a:p>
          <a:p>
            <a:pPr>
              <a:buNone/>
            </a:pPr>
            <a:r>
              <a:rPr lang="zh-CN" altLang="en-US" dirty="0">
                <a:latin typeface="宋体" panose="02010600030101010101" pitchFamily="2" charset="-122"/>
                <a:ea typeface="宋体" panose="02010600030101010101" pitchFamily="2" charset="-122"/>
                <a:sym typeface="+mn-ea"/>
              </a:rPr>
              <a:t>格式包含10位(1个起始位、1个停止位、8个数据位)，这时的比特</a:t>
            </a:r>
            <a:endParaRPr lang="zh-CN" altLang="en-US" dirty="0">
              <a:latin typeface="宋体" panose="02010600030101010101" pitchFamily="2" charset="-122"/>
              <a:ea typeface="宋体" panose="02010600030101010101" pitchFamily="2" charset="-122"/>
              <a:sym typeface="+mn-ea"/>
            </a:endParaRPr>
          </a:p>
          <a:p>
            <a:pPr>
              <a:buNone/>
            </a:pPr>
            <a:r>
              <a:rPr lang="zh-CN" altLang="en-US" dirty="0">
                <a:latin typeface="宋体" panose="02010600030101010101" pitchFamily="2" charset="-122"/>
                <a:ea typeface="宋体" panose="02010600030101010101" pitchFamily="2" charset="-122"/>
                <a:sym typeface="+mn-ea"/>
              </a:rPr>
              <a:t>率为：</a:t>
            </a:r>
            <a:endParaRPr lang="zh-CN" altLang="en-US"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sym typeface="+mn-ea"/>
              </a:rPr>
              <a:t>           10位×240个/秒 = 2400 bps </a:t>
            </a:r>
            <a:endParaRPr>
              <a:latin typeface="宋体" panose="02010600030101010101" pitchFamily="2" charset="-122"/>
              <a:ea typeface="宋体" panose="02010600030101010101" pitchFamily="2" charset="-122"/>
              <a:cs typeface="宋体" panose="02010600030101010101" pitchFamily="2" charset="-122"/>
            </a:endParaRPr>
          </a:p>
        </p:txBody>
      </p:sp>
      <p:sp>
        <p:nvSpPr>
          <p:cNvPr id="3" name="标题 1"/>
          <p:cNvSpPr>
            <a:spLocks noGrp="1"/>
          </p:cNvSpPr>
          <p:nvPr/>
        </p:nvSpPr>
        <p:spPr>
          <a:xfrm>
            <a:off x="838200" y="300355"/>
            <a:ext cx="10515600"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a:lstStyle>
          <a:p>
            <a:r>
              <a:rPr lang="en-US" altLang="zh-CN" sz="2800" dirty="0">
                <a:latin typeface="宋体" panose="02010600030101010101" pitchFamily="2" charset="-122"/>
                <a:ea typeface="宋体" panose="02010600030101010101" pitchFamily="2" charset="-122"/>
                <a:sym typeface="+mn-ea"/>
              </a:rPr>
              <a:t>1.4 </a:t>
            </a:r>
            <a:r>
              <a:rPr lang="zh-CN" altLang="en-US" sz="2800" dirty="0">
                <a:latin typeface="宋体" panose="02010600030101010101" pitchFamily="2" charset="-122"/>
                <a:ea typeface="宋体" panose="02010600030101010101" pitchFamily="2" charset="-122"/>
                <a:sym typeface="+mn-ea"/>
              </a:rPr>
              <a:t>通信速率</a:t>
            </a:r>
            <a:endParaRPr lang="zh-CN" altLang="en-US" sz="2800"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62610"/>
          </a:xfrm>
        </p:spPr>
        <p:txBody>
          <a:bodyPr>
            <a:normAutofit/>
          </a:bodyPr>
          <a:lstStyle/>
          <a:p>
            <a:r>
              <a:rPr lang="en-US" altLang="zh-CN" dirty="0">
                <a:latin typeface="宋体" panose="02010600030101010101" pitchFamily="2" charset="-122"/>
                <a:ea typeface="宋体" panose="02010600030101010101" pitchFamily="2" charset="-122"/>
                <a:sym typeface="+mn-ea"/>
              </a:rPr>
              <a:t>2.</a:t>
            </a:r>
            <a:r>
              <a:rPr lang="zh-CN" altLang="en-US" dirty="0">
                <a:latin typeface="宋体" panose="02010600030101010101" pitchFamily="2" charset="-122"/>
                <a:ea typeface="宋体" panose="02010600030101010101" pitchFamily="2" charset="-122"/>
                <a:sym typeface="+mn-ea"/>
              </a:rPr>
              <a:t>F28335的</a:t>
            </a:r>
            <a:r>
              <a:rPr lang="en-US" altLang="zh-CN" dirty="0">
                <a:latin typeface="宋体" panose="02010600030101010101" pitchFamily="2" charset="-122"/>
                <a:ea typeface="宋体" panose="02010600030101010101" pitchFamily="2" charset="-122"/>
                <a:sym typeface="+mn-ea"/>
              </a:rPr>
              <a:t>SCI</a:t>
            </a:r>
            <a:r>
              <a:rPr lang="zh-CN" altLang="en-US" dirty="0">
                <a:latin typeface="宋体" panose="02010600030101010101" pitchFamily="2" charset="-122"/>
                <a:ea typeface="宋体" panose="02010600030101010101" pitchFamily="2" charset="-122"/>
                <a:sym typeface="+mn-ea"/>
              </a:rPr>
              <a:t>介绍</a:t>
            </a:r>
            <a:endParaRPr lang="zh-CN" altLang="en-US" dirty="0"/>
          </a:p>
        </p:txBody>
      </p:sp>
      <p:sp>
        <p:nvSpPr>
          <p:cNvPr id="5" name="内容占位符 4"/>
          <p:cNvSpPr>
            <a:spLocks noGrp="1"/>
          </p:cNvSpPr>
          <p:nvPr>
            <p:ph idx="1"/>
          </p:nvPr>
        </p:nvSpPr>
        <p:spPr>
          <a:xfrm>
            <a:off x="838200" y="1475105"/>
            <a:ext cx="10514965" cy="4883785"/>
          </a:xfrm>
        </p:spPr>
        <p:txBody>
          <a:bodyPr>
            <a:normAutofit lnSpcReduction="10000"/>
          </a:bodyPr>
          <a:p>
            <a:pPr fontAlgn="base">
              <a:buNone/>
            </a:pPr>
            <a:r>
              <a:rPr lang="en-US" altLang="zh-CN" dirty="0">
                <a:latin typeface="宋体" panose="02010600030101010101" pitchFamily="2" charset="-122"/>
                <a:ea typeface="宋体" panose="02010600030101010101" pitchFamily="2" charset="-122"/>
                <a:sym typeface="+mn-ea"/>
              </a:rPr>
              <a:t>	</a:t>
            </a:r>
            <a:r>
              <a:rPr lang="zh-CN" altLang="en-US" dirty="0">
                <a:latin typeface="宋体" panose="02010600030101010101" pitchFamily="2" charset="-122"/>
                <a:ea typeface="宋体" panose="02010600030101010101" pitchFamily="2" charset="-122"/>
                <a:sym typeface="+mn-ea"/>
              </a:rPr>
              <a:t>串口通信(Serial Communication)，是指外设和计算机间，通过</a:t>
            </a:r>
            <a:endParaRPr lang="zh-CN" altLang="en-US" dirty="0">
              <a:latin typeface="宋体" panose="02010600030101010101" pitchFamily="2" charset="-122"/>
              <a:ea typeface="宋体" panose="02010600030101010101" pitchFamily="2" charset="-122"/>
              <a:sym typeface="+mn-ea"/>
            </a:endParaRPr>
          </a:p>
          <a:p>
            <a:pPr fontAlgn="base">
              <a:buNone/>
            </a:pPr>
            <a:r>
              <a:rPr lang="zh-CN" altLang="en-US" dirty="0">
                <a:latin typeface="宋体" panose="02010600030101010101" pitchFamily="2" charset="-122"/>
                <a:ea typeface="宋体" panose="02010600030101010101" pitchFamily="2" charset="-122"/>
                <a:sym typeface="+mn-ea"/>
              </a:rPr>
              <a:t>数据信号线、地线等，按位进行传输数据的一种通信方式，属于串</a:t>
            </a:r>
            <a:endParaRPr lang="zh-CN" altLang="en-US" dirty="0">
              <a:latin typeface="宋体" panose="02010600030101010101" pitchFamily="2" charset="-122"/>
              <a:ea typeface="宋体" panose="02010600030101010101" pitchFamily="2" charset="-122"/>
              <a:sym typeface="+mn-ea"/>
            </a:endParaRPr>
          </a:p>
          <a:p>
            <a:pPr fontAlgn="base">
              <a:buNone/>
            </a:pPr>
            <a:r>
              <a:rPr lang="zh-CN" altLang="en-US" dirty="0">
                <a:latin typeface="宋体" panose="02010600030101010101" pitchFamily="2" charset="-122"/>
                <a:ea typeface="宋体" panose="02010600030101010101" pitchFamily="2" charset="-122"/>
                <a:sym typeface="+mn-ea"/>
              </a:rPr>
              <a:t>行通信方式。串口是一种接口标准，它规定了接口的电气标准，没</a:t>
            </a:r>
            <a:endParaRPr lang="zh-CN" altLang="en-US" dirty="0">
              <a:latin typeface="宋体" panose="02010600030101010101" pitchFamily="2" charset="-122"/>
              <a:ea typeface="宋体" panose="02010600030101010101" pitchFamily="2" charset="-122"/>
              <a:sym typeface="+mn-ea"/>
            </a:endParaRPr>
          </a:p>
          <a:p>
            <a:pPr fontAlgn="base">
              <a:buNone/>
            </a:pPr>
            <a:r>
              <a:rPr lang="zh-CN" altLang="en-US" dirty="0">
                <a:latin typeface="宋体" panose="02010600030101010101" pitchFamily="2" charset="-122"/>
                <a:ea typeface="宋体" panose="02010600030101010101" pitchFamily="2" charset="-122"/>
                <a:sym typeface="+mn-ea"/>
              </a:rPr>
              <a:t>有规定接口插件电缆以及使用的协议。</a:t>
            </a:r>
            <a:endParaRPr>
              <a:latin typeface="宋体" panose="02010600030101010101" pitchFamily="2" charset="-122"/>
              <a:ea typeface="宋体" panose="02010600030101010101" pitchFamily="2" charset="-122"/>
              <a:cs typeface="宋体" panose="02010600030101010101" pitchFamily="2" charset="-122"/>
            </a:endParaRPr>
          </a:p>
        </p:txBody>
      </p:sp>
      <p:sp>
        <p:nvSpPr>
          <p:cNvPr id="3" name="标题 1"/>
          <p:cNvSpPr>
            <a:spLocks noGrp="1"/>
          </p:cNvSpPr>
          <p:nvPr/>
        </p:nvSpPr>
        <p:spPr>
          <a:xfrm>
            <a:off x="838200" y="829310"/>
            <a:ext cx="10515600"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a:lstStyle>
          <a:p>
            <a:r>
              <a:rPr lang="en-US" altLang="zh-CN" sz="2800" dirty="0">
                <a:latin typeface="宋体" panose="02010600030101010101" pitchFamily="2" charset="-122"/>
                <a:ea typeface="宋体" panose="02010600030101010101" pitchFamily="2" charset="-122"/>
                <a:sym typeface="+mn-ea"/>
              </a:rPr>
              <a:t>2.1 </a:t>
            </a:r>
            <a:r>
              <a:rPr lang="zh-CN" altLang="en-US" sz="2800" dirty="0">
                <a:latin typeface="宋体" panose="02010600030101010101" pitchFamily="2" charset="-122"/>
                <a:ea typeface="宋体" panose="02010600030101010101" pitchFamily="2" charset="-122"/>
                <a:sym typeface="+mn-ea"/>
              </a:rPr>
              <a:t>串口通信简介</a:t>
            </a:r>
            <a:endParaRPr lang="zh-CN" altLang="en-US" sz="2800"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363220"/>
            <a:ext cx="10361930" cy="6093460"/>
          </a:xfrm>
        </p:spPr>
        <p:txBody>
          <a:bodyPr>
            <a:normAutofit fontScale="90000"/>
          </a:bodyPr>
          <a:p>
            <a:pPr>
              <a:buNone/>
            </a:pPr>
            <a:r>
              <a:rPr lang="zh-CN" altLang="en-US" dirty="0">
                <a:latin typeface="宋体" panose="02010600030101010101" pitchFamily="2" charset="-122"/>
                <a:ea typeface="宋体" panose="02010600030101010101" pitchFamily="2" charset="-122"/>
                <a:sym typeface="+mn-ea"/>
              </a:rPr>
              <a:t>（</a:t>
            </a:r>
            <a:r>
              <a:rPr lang="en-US" altLang="zh-CN" dirty="0">
                <a:latin typeface="宋体" panose="02010600030101010101" pitchFamily="2" charset="-122"/>
                <a:ea typeface="宋体" panose="02010600030101010101" pitchFamily="2" charset="-122"/>
                <a:sym typeface="+mn-ea"/>
              </a:rPr>
              <a:t>1</a:t>
            </a:r>
            <a:r>
              <a:rPr lang="zh-CN" altLang="en-US" dirty="0">
                <a:latin typeface="宋体" panose="02010600030101010101" pitchFamily="2" charset="-122"/>
                <a:ea typeface="宋体" panose="02010600030101010101" pitchFamily="2" charset="-122"/>
                <a:sym typeface="+mn-ea"/>
              </a:rPr>
              <a:t>）接口标准</a:t>
            </a:r>
            <a:endParaRPr lang="zh-CN" altLang="en-US"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	串口通信的接口标准有很多，有RS-232C、RS-232、RS-422A、RS-485</a:t>
            </a: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等。常用的就是RS-232和RS-485。RS-232其实是RS-232C的改进，原理是</a:t>
            </a: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一样的。这里我们就以RS-232C接口进行讲解，RS-485在后面章节中会介</a:t>
            </a: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绍。</a:t>
            </a: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	RS-232C是EIA（美国电子工业协会）1969年修订RS-232C标准。RS-</a:t>
            </a: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232C定义了数据终端设备（DTE）与数据通信设备（DCE）之间的物理接</a:t>
            </a: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口标准。</a:t>
            </a: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	RS-232C接口规定使用25针连接器，简称DB25，连接器的尺寸及每个</a:t>
            </a: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插针的排列位置都有明确的定义 </a:t>
            </a:r>
            <a:r>
              <a:rPr lang="zh-CN" altLang="en-US" dirty="0">
                <a:latin typeface="宋体" panose="02010600030101010101" pitchFamily="2" charset="-122"/>
                <a:ea typeface="宋体" panose="02010600030101010101" pitchFamily="2" charset="-122"/>
                <a:sym typeface="+mn-ea"/>
              </a:rPr>
              <a:t>。</a:t>
            </a:r>
            <a:endParaRPr>
              <a:latin typeface="宋体" panose="02010600030101010101" pitchFamily="2" charset="-122"/>
              <a:ea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1"/>
          <a:stretch>
            <a:fillRect/>
          </a:stretch>
        </p:blipFill>
        <p:spPr>
          <a:xfrm>
            <a:off x="1684020" y="5104130"/>
            <a:ext cx="5067300" cy="1352550"/>
          </a:xfrm>
          <a:prstGeom prst="rect">
            <a:avLst/>
          </a:prstGeom>
        </p:spPr>
      </p:pic>
      <p:pic>
        <p:nvPicPr>
          <p:cNvPr id="14342" name="图片 11"/>
          <p:cNvPicPr>
            <a:picLocks noChangeAspect="1"/>
          </p:cNvPicPr>
          <p:nvPr/>
        </p:nvPicPr>
        <p:blipFill>
          <a:blip r:embed="rId2"/>
          <a:stretch>
            <a:fillRect/>
          </a:stretch>
        </p:blipFill>
        <p:spPr>
          <a:xfrm>
            <a:off x="7160260" y="4674870"/>
            <a:ext cx="3406140" cy="1906905"/>
          </a:xfrm>
          <a:prstGeom prst="rect">
            <a:avLst/>
          </a:prstGeom>
          <a:noFill/>
          <a:ln w="9525">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363220"/>
            <a:ext cx="10361930" cy="6093460"/>
          </a:xfrm>
        </p:spPr>
        <p:txBody>
          <a:bodyPr>
            <a:normAutofit/>
          </a:bodyPr>
          <a:p>
            <a:pPr>
              <a:buNone/>
            </a:pPr>
            <a:r>
              <a:rPr lang="en-US" altLang="en-US" dirty="0">
                <a:latin typeface="宋体" panose="02010600030101010101" pitchFamily="2" charset="-122"/>
                <a:ea typeface="宋体" panose="02010600030101010101" pitchFamily="2" charset="-122"/>
                <a:sym typeface="+mn-ea"/>
              </a:rPr>
              <a:t>公头和母头的管脚定义顺序是不一样，这一点需要特别注意</a:t>
            </a:r>
            <a:r>
              <a:rPr lang="zh-CN" altLang="en-US" dirty="0">
                <a:latin typeface="宋体" panose="02010600030101010101" pitchFamily="2" charset="-122"/>
                <a:ea typeface="宋体" panose="02010600030101010101" pitchFamily="2" charset="-122"/>
                <a:sym typeface="+mn-ea"/>
              </a:rPr>
              <a:t>。常</a:t>
            </a:r>
            <a:endParaRPr lang="zh-CN" altLang="en-US" dirty="0">
              <a:latin typeface="宋体" panose="02010600030101010101" pitchFamily="2" charset="-122"/>
              <a:ea typeface="宋体" panose="02010600030101010101" pitchFamily="2" charset="-122"/>
              <a:sym typeface="+mn-ea"/>
            </a:endParaRPr>
          </a:p>
          <a:p>
            <a:pPr>
              <a:buNone/>
            </a:pPr>
            <a:r>
              <a:rPr lang="zh-CN" altLang="en-US" dirty="0">
                <a:latin typeface="宋体" panose="02010600030101010101" pitchFamily="2" charset="-122"/>
                <a:ea typeface="宋体" panose="02010600030101010101" pitchFamily="2" charset="-122"/>
                <a:sym typeface="+mn-ea"/>
              </a:rPr>
              <a:t>用管脚的功能如下：</a:t>
            </a:r>
            <a:endParaRPr>
              <a:latin typeface="宋体" panose="02010600030101010101" pitchFamily="2" charset="-122"/>
              <a:ea typeface="宋体" panose="02010600030101010101" pitchFamily="2" charset="-122"/>
              <a:cs typeface="宋体" panose="02010600030101010101" pitchFamily="2" charset="-122"/>
            </a:endParaRPr>
          </a:p>
        </p:txBody>
      </p:sp>
      <p:pic>
        <p:nvPicPr>
          <p:cNvPr id="15365" name="图片 2"/>
          <p:cNvPicPr>
            <a:picLocks noChangeAspect="1"/>
          </p:cNvPicPr>
          <p:nvPr/>
        </p:nvPicPr>
        <p:blipFill>
          <a:blip r:embed="rId1"/>
          <a:stretch>
            <a:fillRect/>
          </a:stretch>
        </p:blipFill>
        <p:spPr>
          <a:xfrm>
            <a:off x="2454275" y="1583373"/>
            <a:ext cx="5965825" cy="3690937"/>
          </a:xfrm>
          <a:prstGeom prst="rect">
            <a:avLst/>
          </a:prstGeom>
          <a:noFill/>
          <a:ln w="9525">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363220"/>
            <a:ext cx="10361930" cy="6093460"/>
          </a:xfrm>
        </p:spPr>
        <p:txBody>
          <a:bodyPr>
            <a:normAutofit/>
          </a:bodyPr>
          <a:p>
            <a:pPr>
              <a:buNone/>
            </a:pPr>
            <a:r>
              <a:rPr lang="en-US" altLang="en-US" dirty="0">
                <a:latin typeface="宋体" panose="02010600030101010101" pitchFamily="2" charset="-122"/>
                <a:ea typeface="宋体" panose="02010600030101010101" pitchFamily="2" charset="-122"/>
                <a:sym typeface="+mn-ea"/>
              </a:rPr>
              <a:t>RS-232C对逻辑电平也做了规定，如下</a:t>
            </a:r>
            <a:endParaRPr lang="en-US" altLang="en-US" dirty="0">
              <a:latin typeface="宋体" panose="02010600030101010101" pitchFamily="2" charset="-122"/>
              <a:ea typeface="宋体" panose="02010600030101010101" pitchFamily="2" charset="-122"/>
            </a:endParaRPr>
          </a:p>
          <a:p>
            <a:pPr>
              <a:buNone/>
            </a:pPr>
            <a:r>
              <a:rPr lang="en-US" altLang="en-US" dirty="0">
                <a:latin typeface="宋体" panose="02010600030101010101" pitchFamily="2" charset="-122"/>
                <a:ea typeface="宋体" panose="02010600030101010101" pitchFamily="2" charset="-122"/>
                <a:sym typeface="+mn-ea"/>
              </a:rPr>
              <a:t>在TXD和RXD数据线上：</a:t>
            </a:r>
            <a:endParaRPr lang="en-US" altLang="en-US" dirty="0">
              <a:latin typeface="宋体" panose="02010600030101010101" pitchFamily="2" charset="-122"/>
              <a:ea typeface="宋体" panose="02010600030101010101" pitchFamily="2" charset="-122"/>
            </a:endParaRPr>
          </a:p>
          <a:p>
            <a:pPr>
              <a:buNone/>
            </a:pPr>
            <a:r>
              <a:rPr lang="en-US" altLang="en-US" dirty="0">
                <a:latin typeface="宋体" panose="02010600030101010101" pitchFamily="2" charset="-122"/>
                <a:ea typeface="宋体" panose="02010600030101010101" pitchFamily="2" charset="-122"/>
                <a:sym typeface="+mn-ea"/>
              </a:rPr>
              <a:t>1.逻辑1为-3~-15V的电压</a:t>
            </a:r>
            <a:endParaRPr lang="en-US" altLang="en-US" dirty="0">
              <a:latin typeface="宋体" panose="02010600030101010101" pitchFamily="2" charset="-122"/>
              <a:ea typeface="宋体" panose="02010600030101010101" pitchFamily="2" charset="-122"/>
            </a:endParaRPr>
          </a:p>
          <a:p>
            <a:pPr>
              <a:buNone/>
            </a:pPr>
            <a:r>
              <a:rPr lang="en-US" altLang="en-US" dirty="0">
                <a:latin typeface="宋体" panose="02010600030101010101" pitchFamily="2" charset="-122"/>
                <a:ea typeface="宋体" panose="02010600030101010101" pitchFamily="2" charset="-122"/>
                <a:sym typeface="+mn-ea"/>
              </a:rPr>
              <a:t>2.逻辑0为3~15V的电压</a:t>
            </a:r>
            <a:endParaRPr lang="en-US" altLang="en-US" dirty="0">
              <a:latin typeface="宋体" panose="02010600030101010101" pitchFamily="2" charset="-122"/>
              <a:ea typeface="宋体" panose="02010600030101010101" pitchFamily="2" charset="-122"/>
            </a:endParaRPr>
          </a:p>
          <a:p>
            <a:pPr>
              <a:buNone/>
            </a:pPr>
            <a:r>
              <a:rPr lang="en-US" altLang="en-US" dirty="0">
                <a:latin typeface="宋体" panose="02010600030101010101" pitchFamily="2" charset="-122"/>
                <a:ea typeface="宋体" panose="02010600030101010101" pitchFamily="2" charset="-122"/>
                <a:sym typeface="+mn-ea"/>
              </a:rPr>
              <a:t>在RTS、CTS、DSR、DTR和DCD等控制线上：</a:t>
            </a:r>
            <a:endParaRPr lang="en-US" altLang="en-US" dirty="0">
              <a:latin typeface="宋体" panose="02010600030101010101" pitchFamily="2" charset="-122"/>
              <a:ea typeface="宋体" panose="02010600030101010101" pitchFamily="2" charset="-122"/>
            </a:endParaRPr>
          </a:p>
          <a:p>
            <a:pPr>
              <a:buNone/>
            </a:pPr>
            <a:r>
              <a:rPr lang="en-US" altLang="en-US" dirty="0">
                <a:latin typeface="宋体" panose="02010600030101010101" pitchFamily="2" charset="-122"/>
                <a:ea typeface="宋体" panose="02010600030101010101" pitchFamily="2" charset="-122"/>
                <a:sym typeface="+mn-ea"/>
              </a:rPr>
              <a:t>1.信号有效（ON状态）为3~15V的电压</a:t>
            </a:r>
            <a:endParaRPr lang="en-US" altLang="en-US" dirty="0">
              <a:latin typeface="宋体" panose="02010600030101010101" pitchFamily="2" charset="-122"/>
              <a:ea typeface="宋体" panose="02010600030101010101" pitchFamily="2" charset="-122"/>
            </a:endParaRPr>
          </a:p>
          <a:p>
            <a:pPr>
              <a:buNone/>
            </a:pPr>
            <a:r>
              <a:rPr lang="en-US" altLang="en-US" dirty="0">
                <a:latin typeface="宋体" panose="02010600030101010101" pitchFamily="2" charset="-122"/>
                <a:ea typeface="宋体" panose="02010600030101010101" pitchFamily="2" charset="-122"/>
                <a:sym typeface="+mn-ea"/>
              </a:rPr>
              <a:t>2.信号无效（OFF状态）为-3~-15V的电压   </a:t>
            </a:r>
            <a:endParaRPr lang="en-US" altLang="en-US"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	</a:t>
            </a:r>
            <a:r>
              <a:rPr lang="zh-CN" altLang="en-US" dirty="0">
                <a:latin typeface="宋体" panose="02010600030101010101" pitchFamily="2" charset="-122"/>
                <a:ea typeface="宋体" panose="02010600030101010101" pitchFamily="2" charset="-122"/>
                <a:sym typeface="+mn-ea"/>
              </a:rPr>
              <a:t>由此可见，RS-232C是用正负电压来表示逻辑状态，与晶体管-</a:t>
            </a:r>
            <a:endParaRPr lang="zh-CN" altLang="en-US" dirty="0">
              <a:latin typeface="宋体" panose="02010600030101010101" pitchFamily="2" charset="-122"/>
              <a:ea typeface="宋体" panose="02010600030101010101" pitchFamily="2" charset="-122"/>
              <a:sym typeface="+mn-ea"/>
            </a:endParaRPr>
          </a:p>
          <a:p>
            <a:pPr>
              <a:buNone/>
            </a:pPr>
            <a:r>
              <a:rPr lang="zh-CN" altLang="en-US" dirty="0">
                <a:latin typeface="宋体" panose="02010600030101010101" pitchFamily="2" charset="-122"/>
                <a:ea typeface="宋体" panose="02010600030101010101" pitchFamily="2" charset="-122"/>
                <a:sym typeface="+mn-ea"/>
              </a:rPr>
              <a:t>晶体管逻辑集成电路（TTL）以高低电平表示逻辑状态的规定正好</a:t>
            </a:r>
            <a:endParaRPr lang="zh-CN" altLang="en-US" dirty="0">
              <a:latin typeface="宋体" panose="02010600030101010101" pitchFamily="2" charset="-122"/>
              <a:ea typeface="宋体" panose="02010600030101010101" pitchFamily="2" charset="-122"/>
              <a:sym typeface="+mn-ea"/>
            </a:endParaRPr>
          </a:p>
          <a:p>
            <a:pPr>
              <a:buNone/>
            </a:pPr>
            <a:r>
              <a:rPr lang="zh-CN" altLang="en-US" dirty="0">
                <a:latin typeface="宋体" panose="02010600030101010101" pitchFamily="2" charset="-122"/>
                <a:ea typeface="宋体" panose="02010600030101010101" pitchFamily="2" charset="-122"/>
                <a:sym typeface="+mn-ea"/>
              </a:rPr>
              <a:t>相反。</a:t>
            </a:r>
            <a:endParaRPr lang="en-US" altLang="zh-CN" dirty="0">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363220"/>
            <a:ext cx="10361930" cy="6093460"/>
          </a:xfrm>
        </p:spPr>
        <p:txBody>
          <a:bodyPr>
            <a:normAutofit/>
          </a:bodyPr>
          <a:p>
            <a:pPr>
              <a:buNone/>
            </a:pPr>
            <a:r>
              <a:rPr lang="en-US" altLang="en-US" dirty="0">
                <a:latin typeface="宋体" panose="02010600030101010101" pitchFamily="2" charset="-122"/>
                <a:ea typeface="宋体" panose="02010600030101010101" pitchFamily="2" charset="-122"/>
                <a:sym typeface="+mn-ea"/>
              </a:rPr>
              <a:t>	串口通信中还需要注意的是，串口数据收发线要交叉连接，计</a:t>
            </a:r>
            <a:endParaRPr lang="en-US" altLang="en-US" dirty="0">
              <a:latin typeface="宋体" panose="02010600030101010101" pitchFamily="2" charset="-122"/>
              <a:ea typeface="宋体" panose="02010600030101010101" pitchFamily="2" charset="-122"/>
              <a:sym typeface="+mn-ea"/>
            </a:endParaRPr>
          </a:p>
          <a:p>
            <a:pPr>
              <a:buNone/>
            </a:pPr>
            <a:r>
              <a:rPr lang="en-US" altLang="en-US" dirty="0">
                <a:latin typeface="宋体" panose="02010600030101010101" pitchFamily="2" charset="-122"/>
                <a:ea typeface="宋体" panose="02010600030101010101" pitchFamily="2" charset="-122"/>
                <a:sym typeface="+mn-ea"/>
              </a:rPr>
              <a:t>算机的TXD要对应单片机的RXD，计算机的RXD要对应单片机的TXD，</a:t>
            </a:r>
            <a:endParaRPr lang="en-US" altLang="en-US" dirty="0">
              <a:latin typeface="宋体" panose="02010600030101010101" pitchFamily="2" charset="-122"/>
              <a:ea typeface="宋体" panose="02010600030101010101" pitchFamily="2" charset="-122"/>
              <a:sym typeface="+mn-ea"/>
            </a:endParaRPr>
          </a:p>
          <a:p>
            <a:pPr>
              <a:buNone/>
            </a:pPr>
            <a:r>
              <a:rPr lang="en-US" altLang="en-US" dirty="0">
                <a:latin typeface="宋体" panose="02010600030101010101" pitchFamily="2" charset="-122"/>
                <a:ea typeface="宋体" panose="02010600030101010101" pitchFamily="2" charset="-122"/>
                <a:sym typeface="+mn-ea"/>
              </a:rPr>
              <a:t>并且共GND，如下图：</a:t>
            </a:r>
            <a:endParaRPr lang="en-US" altLang="en-US" dirty="0">
              <a:latin typeface="宋体" panose="02010600030101010101" pitchFamily="2" charset="-122"/>
              <a:ea typeface="宋体" panose="02010600030101010101" pitchFamily="2" charset="-122"/>
              <a:sym typeface="+mn-ea"/>
            </a:endParaRPr>
          </a:p>
          <a:p>
            <a:pPr>
              <a:buNone/>
            </a:pPr>
            <a:endParaRPr lang="en-US" altLang="zh-CN" dirty="0">
              <a:latin typeface="宋体" panose="02010600030101010101" pitchFamily="2" charset="-122"/>
              <a:ea typeface="宋体" panose="02010600030101010101" pitchFamily="2" charset="-122"/>
              <a:cs typeface="宋体" panose="02010600030101010101" pitchFamily="2" charset="-122"/>
              <a:sym typeface="+mn-ea"/>
            </a:endParaRPr>
          </a:p>
          <a:p>
            <a:pPr>
              <a:buNone/>
            </a:pPr>
            <a:endParaRPr lang="en-US" altLang="zh-CN" dirty="0">
              <a:latin typeface="宋体" panose="02010600030101010101" pitchFamily="2" charset="-122"/>
              <a:ea typeface="宋体" panose="02010600030101010101" pitchFamily="2" charset="-122"/>
              <a:cs typeface="宋体" panose="02010600030101010101" pitchFamily="2" charset="-122"/>
              <a:sym typeface="+mn-ea"/>
            </a:endParaRPr>
          </a:p>
          <a:p>
            <a:pPr>
              <a:buNone/>
            </a:pPr>
            <a:endParaRPr lang="en-US" altLang="zh-CN" dirty="0">
              <a:latin typeface="宋体" panose="02010600030101010101" pitchFamily="2" charset="-122"/>
              <a:ea typeface="宋体" panose="02010600030101010101" pitchFamily="2" charset="-122"/>
              <a:cs typeface="宋体" panose="02010600030101010101" pitchFamily="2" charset="-122"/>
              <a:sym typeface="+mn-ea"/>
            </a:endParaRPr>
          </a:p>
          <a:p>
            <a:pPr>
              <a:buNone/>
            </a:pPr>
            <a:endParaRPr lang="en-US" altLang="zh-CN" dirty="0">
              <a:latin typeface="宋体" panose="02010600030101010101" pitchFamily="2" charset="-122"/>
              <a:ea typeface="宋体" panose="02010600030101010101" pitchFamily="2" charset="-122"/>
              <a:cs typeface="宋体" panose="02010600030101010101" pitchFamily="2" charset="-122"/>
              <a:sym typeface="+mn-ea"/>
            </a:endParaRPr>
          </a:p>
          <a:p>
            <a:pPr>
              <a:buNone/>
            </a:pPr>
            <a:endParaRPr lang="en-US" altLang="zh-CN" dirty="0">
              <a:latin typeface="宋体" panose="02010600030101010101" pitchFamily="2" charset="-122"/>
              <a:ea typeface="宋体" panose="02010600030101010101" pitchFamily="2" charset="-122"/>
              <a:cs typeface="宋体" panose="02010600030101010101" pitchFamily="2" charset="-122"/>
              <a:sym typeface="+mn-ea"/>
            </a:endParaRPr>
          </a:p>
          <a:p>
            <a:pPr>
              <a:buNone/>
            </a:pPr>
            <a:r>
              <a:rPr lang="zh-CN" altLang="en-US" dirty="0">
                <a:latin typeface="宋体" panose="02010600030101010101" pitchFamily="2" charset="-122"/>
                <a:ea typeface="宋体" panose="02010600030101010101" pitchFamily="2" charset="-122"/>
                <a:sym typeface="+mn-ea"/>
              </a:rPr>
              <a:t>（</a:t>
            </a:r>
            <a:r>
              <a:rPr lang="en-US" altLang="zh-CN" dirty="0">
                <a:latin typeface="宋体" panose="02010600030101010101" pitchFamily="2" charset="-122"/>
                <a:ea typeface="宋体" panose="02010600030101010101" pitchFamily="2" charset="-122"/>
                <a:sym typeface="+mn-ea"/>
              </a:rPr>
              <a:t>2</a:t>
            </a:r>
            <a:r>
              <a:rPr lang="zh-CN" altLang="en-US" dirty="0">
                <a:latin typeface="宋体" panose="02010600030101010101" pitchFamily="2" charset="-122"/>
                <a:ea typeface="宋体" panose="02010600030101010101" pitchFamily="2" charset="-122"/>
                <a:sym typeface="+mn-ea"/>
              </a:rPr>
              <a:t>）通信协议</a:t>
            </a:r>
            <a:endParaRPr lang="zh-CN" altLang="en-US"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sym typeface="+mn-ea"/>
              </a:rPr>
              <a:t>	RS232的通信协议比较简单，通常遵循96-N-8-1格式</a:t>
            </a:r>
            <a:r>
              <a:rPr lang="zh-CN" altLang="en-US" dirty="0">
                <a:latin typeface="宋体" panose="02010600030101010101" pitchFamily="2" charset="-122"/>
                <a:ea typeface="宋体" panose="02010600030101010101" pitchFamily="2" charset="-122"/>
                <a:sym typeface="+mn-ea"/>
              </a:rPr>
              <a:t>。</a:t>
            </a:r>
            <a:endParaRPr lang="en-US" altLang="zh-CN" dirty="0">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2" name="图片 1"/>
          <p:cNvPicPr>
            <a:picLocks noChangeAspect="1"/>
          </p:cNvPicPr>
          <p:nvPr/>
        </p:nvPicPr>
        <p:blipFill>
          <a:blip r:embed="rId1"/>
          <a:stretch>
            <a:fillRect/>
          </a:stretch>
        </p:blipFill>
        <p:spPr>
          <a:xfrm>
            <a:off x="3750945" y="1919605"/>
            <a:ext cx="3409315" cy="239585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1475105"/>
            <a:ext cx="10514965" cy="4883785"/>
          </a:xfrm>
        </p:spPr>
        <p:txBody>
          <a:bodyPr>
            <a:normAutofit fontScale="80000"/>
          </a:bodyPr>
          <a:p>
            <a:pPr fontAlgn="base">
              <a:buNone/>
            </a:pPr>
            <a:r>
              <a:rPr dirty="0">
                <a:latin typeface="宋体" panose="02010600030101010101" pitchFamily="2" charset="-122"/>
                <a:ea typeface="宋体" panose="02010600030101010101" pitchFamily="2" charset="-122"/>
                <a:sym typeface="+mn-ea"/>
              </a:rPr>
              <a:t>SCI（Serial Communication Interface）串行通信接口，接收和</a:t>
            </a:r>
            <a:endParaRPr dirty="0">
              <a:latin typeface="宋体" panose="02010600030101010101" pitchFamily="2" charset="-122"/>
              <a:ea typeface="宋体" panose="02010600030101010101" pitchFamily="2" charset="-122"/>
              <a:sym typeface="+mn-ea"/>
            </a:endParaRPr>
          </a:p>
          <a:p>
            <a:pPr fontAlgn="base">
              <a:buNone/>
            </a:pPr>
            <a:r>
              <a:rPr dirty="0">
                <a:latin typeface="宋体" panose="02010600030101010101" pitchFamily="2" charset="-122"/>
                <a:ea typeface="宋体" panose="02010600030101010101" pitchFamily="2" charset="-122"/>
                <a:sym typeface="+mn-ea"/>
              </a:rPr>
              <a:t>发送有各自独立的信号线，但不是同一个时钟，所以是进行串行异</a:t>
            </a:r>
            <a:endParaRPr dirty="0">
              <a:latin typeface="宋体" panose="02010600030101010101" pitchFamily="2" charset="-122"/>
              <a:ea typeface="宋体" panose="02010600030101010101" pitchFamily="2" charset="-122"/>
              <a:sym typeface="+mn-ea"/>
            </a:endParaRPr>
          </a:p>
          <a:p>
            <a:pPr fontAlgn="base">
              <a:buNone/>
            </a:pPr>
            <a:r>
              <a:rPr dirty="0">
                <a:latin typeface="宋体" panose="02010600030101010101" pitchFamily="2" charset="-122"/>
                <a:ea typeface="宋体" panose="02010600030101010101" pitchFamily="2" charset="-122"/>
                <a:sym typeface="+mn-ea"/>
              </a:rPr>
              <a:t>步通信接口，一般可以看作是 UART（通用异步收发器），经常和 </a:t>
            </a:r>
            <a:endParaRPr dirty="0">
              <a:latin typeface="宋体" panose="02010600030101010101" pitchFamily="2" charset="-122"/>
              <a:ea typeface="宋体" panose="02010600030101010101" pitchFamily="2" charset="-122"/>
              <a:sym typeface="+mn-ea"/>
            </a:endParaRPr>
          </a:p>
          <a:p>
            <a:pPr fontAlgn="base">
              <a:buNone/>
            </a:pPr>
            <a:r>
              <a:rPr dirty="0">
                <a:latin typeface="宋体" panose="02010600030101010101" pitchFamily="2" charset="-122"/>
                <a:ea typeface="宋体" panose="02010600030101010101" pitchFamily="2" charset="-122"/>
                <a:sym typeface="+mn-ea"/>
              </a:rPr>
              <a:t>RS232 接口连接。通常 DSP 引脚输入/输出使用 TTL 电平，而 </a:t>
            </a:r>
            <a:endParaRPr dirty="0">
              <a:latin typeface="宋体" panose="02010600030101010101" pitchFamily="2" charset="-122"/>
              <a:ea typeface="宋体" panose="02010600030101010101" pitchFamily="2" charset="-122"/>
              <a:sym typeface="+mn-ea"/>
            </a:endParaRPr>
          </a:p>
          <a:p>
            <a:pPr fontAlgn="base">
              <a:buNone/>
            </a:pPr>
            <a:r>
              <a:rPr dirty="0">
                <a:latin typeface="宋体" panose="02010600030101010101" pitchFamily="2" charset="-122"/>
                <a:ea typeface="宋体" panose="02010600030101010101" pitchFamily="2" charset="-122"/>
                <a:sym typeface="+mn-ea"/>
              </a:rPr>
              <a:t>TTL 电平的 1 和 0 的特征电压分别是 2.4V 和 0.4V，适用于板</a:t>
            </a:r>
            <a:endParaRPr dirty="0">
              <a:latin typeface="宋体" panose="02010600030101010101" pitchFamily="2" charset="-122"/>
              <a:ea typeface="宋体" panose="02010600030101010101" pitchFamily="2" charset="-122"/>
              <a:sym typeface="+mn-ea"/>
            </a:endParaRPr>
          </a:p>
          <a:p>
            <a:pPr fontAlgn="base">
              <a:buNone/>
            </a:pPr>
            <a:r>
              <a:rPr dirty="0">
                <a:latin typeface="宋体" panose="02010600030101010101" pitchFamily="2" charset="-122"/>
                <a:ea typeface="宋体" panose="02010600030101010101" pitchFamily="2" charset="-122"/>
                <a:sym typeface="+mn-ea"/>
              </a:rPr>
              <a:t>内数据传输。TTL 电平与 RS232 电平之间要互相转换，常使用 </a:t>
            </a:r>
            <a:endParaRPr dirty="0">
              <a:latin typeface="宋体" panose="02010600030101010101" pitchFamily="2" charset="-122"/>
              <a:ea typeface="宋体" panose="02010600030101010101" pitchFamily="2" charset="-122"/>
              <a:sym typeface="+mn-ea"/>
            </a:endParaRPr>
          </a:p>
          <a:p>
            <a:pPr fontAlgn="base">
              <a:buNone/>
            </a:pPr>
            <a:r>
              <a:rPr dirty="0">
                <a:latin typeface="宋体" panose="02010600030101010101" pitchFamily="2" charset="-122"/>
                <a:ea typeface="宋体" panose="02010600030101010101" pitchFamily="2" charset="-122"/>
                <a:sym typeface="+mn-ea"/>
              </a:rPr>
              <a:t>MAX232 进行转换。</a:t>
            </a:r>
            <a:endParaRPr dirty="0">
              <a:latin typeface="宋体" panose="02010600030101010101" pitchFamily="2" charset="-122"/>
              <a:ea typeface="宋体" panose="02010600030101010101" pitchFamily="2" charset="-122"/>
              <a:sym typeface="+mn-ea"/>
            </a:endParaRPr>
          </a:p>
          <a:p>
            <a:pPr fontAlgn="base">
              <a:buNone/>
            </a:pPr>
            <a:r>
              <a:rPr dirty="0">
                <a:latin typeface="宋体" panose="02010600030101010101" pitchFamily="2" charset="-122"/>
                <a:ea typeface="宋体" panose="02010600030101010101" pitchFamily="2" charset="-122"/>
                <a:sym typeface="+mn-ea"/>
              </a:rPr>
              <a:t>F28335 处理器共有 3 个 SCI 接口，相对 TI 的 C240X 系列 DSP 的 SCI 接口，</a:t>
            </a:r>
            <a:endParaRPr dirty="0">
              <a:latin typeface="宋体" panose="02010600030101010101" pitchFamily="2" charset="-122"/>
              <a:ea typeface="宋体" panose="02010600030101010101" pitchFamily="2" charset="-122"/>
              <a:sym typeface="+mn-ea"/>
            </a:endParaRPr>
          </a:p>
          <a:p>
            <a:pPr fontAlgn="base">
              <a:buNone/>
            </a:pPr>
            <a:r>
              <a:rPr dirty="0">
                <a:latin typeface="宋体" panose="02010600030101010101" pitchFamily="2" charset="-122"/>
                <a:ea typeface="宋体" panose="02010600030101010101" pitchFamily="2" charset="-122"/>
                <a:sym typeface="+mn-ea"/>
              </a:rPr>
              <a:t>功能上有很大的改进，在原有功能基础上增加了通信速率自动检测和 FIFO 缓冲</a:t>
            </a:r>
            <a:endParaRPr dirty="0">
              <a:latin typeface="宋体" panose="02010600030101010101" pitchFamily="2" charset="-122"/>
              <a:ea typeface="宋体" panose="02010600030101010101" pitchFamily="2" charset="-122"/>
              <a:sym typeface="+mn-ea"/>
            </a:endParaRPr>
          </a:p>
          <a:p>
            <a:pPr fontAlgn="base">
              <a:buNone/>
            </a:pPr>
            <a:r>
              <a:rPr dirty="0">
                <a:latin typeface="宋体" panose="02010600030101010101" pitchFamily="2" charset="-122"/>
                <a:ea typeface="宋体" panose="02010600030101010101" pitchFamily="2" charset="-122"/>
                <a:sym typeface="+mn-ea"/>
              </a:rPr>
              <a:t>等新功能，为了减小串口通信时 CPU 的开销，F28335 的串口支持 16 级接收和发</a:t>
            </a:r>
            <a:endParaRPr dirty="0">
              <a:latin typeface="宋体" panose="02010600030101010101" pitchFamily="2" charset="-122"/>
              <a:ea typeface="宋体" panose="02010600030101010101" pitchFamily="2" charset="-122"/>
              <a:sym typeface="+mn-ea"/>
            </a:endParaRPr>
          </a:p>
          <a:p>
            <a:pPr fontAlgn="base">
              <a:buNone/>
            </a:pPr>
            <a:r>
              <a:rPr dirty="0">
                <a:latin typeface="宋体" panose="02010600030101010101" pitchFamily="2" charset="-122"/>
                <a:ea typeface="宋体" panose="02010600030101010101" pitchFamily="2" charset="-122"/>
                <a:sym typeface="+mn-ea"/>
              </a:rPr>
              <a:t>送 FIFO。</a:t>
            </a:r>
            <a:endParaRPr dirty="0">
              <a:latin typeface="宋体" panose="02010600030101010101" pitchFamily="2" charset="-122"/>
              <a:ea typeface="宋体" panose="02010600030101010101" pitchFamily="2" charset="-122"/>
              <a:sym typeface="+mn-ea"/>
            </a:endParaRPr>
          </a:p>
        </p:txBody>
      </p:sp>
      <p:sp>
        <p:nvSpPr>
          <p:cNvPr id="3" name="标题 1"/>
          <p:cNvSpPr>
            <a:spLocks noGrp="1"/>
          </p:cNvSpPr>
          <p:nvPr/>
        </p:nvSpPr>
        <p:spPr>
          <a:xfrm>
            <a:off x="838200" y="829310"/>
            <a:ext cx="10515600"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a:lstStyle>
          <a:p>
            <a:r>
              <a:rPr sz="2800" dirty="0">
                <a:latin typeface="宋体" panose="02010600030101010101" pitchFamily="2" charset="-122"/>
                <a:ea typeface="宋体" panose="02010600030101010101" pitchFamily="2" charset="-122"/>
                <a:sym typeface="+mn-ea"/>
              </a:rPr>
              <a:t>2.2 SCI 简介</a:t>
            </a:r>
            <a:endParaRPr sz="2800"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838200" y="259080"/>
            <a:ext cx="10515600"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a:lstStyle>
          <a:p>
            <a:r>
              <a:rPr sz="2800" dirty="0">
                <a:latin typeface="宋体" panose="02010600030101010101" pitchFamily="2" charset="-122"/>
                <a:ea typeface="宋体" panose="02010600030101010101" pitchFamily="2" charset="-122"/>
                <a:sym typeface="+mn-ea"/>
              </a:rPr>
              <a:t>2.3 SCI 结构框图</a:t>
            </a:r>
            <a:endParaRPr sz="2800" dirty="0">
              <a:latin typeface="宋体" panose="02010600030101010101" pitchFamily="2" charset="-122"/>
              <a:ea typeface="宋体" panose="02010600030101010101" pitchFamily="2" charset="-122"/>
              <a:sym typeface="+mn-ea"/>
            </a:endParaRPr>
          </a:p>
        </p:txBody>
      </p:sp>
      <p:pic>
        <p:nvPicPr>
          <p:cNvPr id="2" name="图片 1"/>
          <p:cNvPicPr>
            <a:picLocks noChangeAspect="1"/>
          </p:cNvPicPr>
          <p:nvPr/>
        </p:nvPicPr>
        <p:blipFill>
          <a:blip r:embed="rId1"/>
          <a:stretch>
            <a:fillRect/>
          </a:stretch>
        </p:blipFill>
        <p:spPr>
          <a:xfrm>
            <a:off x="2772410" y="821055"/>
            <a:ext cx="6702425" cy="553529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432435"/>
            <a:ext cx="10514965" cy="5926455"/>
          </a:xfrm>
        </p:spPr>
        <p:txBody>
          <a:bodyPr>
            <a:normAutofit/>
          </a:bodyPr>
          <a:p>
            <a:pPr fontAlgn="base">
              <a:buNone/>
            </a:pPr>
            <a:r>
              <a:rPr dirty="0">
                <a:latin typeface="宋体" panose="02010600030101010101" pitchFamily="2" charset="-122"/>
                <a:ea typeface="宋体" panose="02010600030101010101" pitchFamily="2" charset="-122"/>
                <a:sym typeface="+mn-ea"/>
              </a:rPr>
              <a:t>（1）SCI 数据格式</a:t>
            </a:r>
            <a:endParaRPr dirty="0">
              <a:latin typeface="宋体" panose="02010600030101010101" pitchFamily="2" charset="-122"/>
              <a:ea typeface="宋体" panose="02010600030101010101" pitchFamily="2" charset="-122"/>
              <a:sym typeface="+mn-ea"/>
            </a:endParaRPr>
          </a:p>
          <a:p>
            <a:pPr fontAlgn="base">
              <a:buNone/>
            </a:pPr>
            <a:r>
              <a:rPr dirty="0">
                <a:latin typeface="宋体" panose="02010600030101010101" pitchFamily="2" charset="-122"/>
                <a:ea typeface="宋体" panose="02010600030101010101" pitchFamily="2" charset="-122"/>
                <a:sym typeface="+mn-ea"/>
              </a:rPr>
              <a:t>SCI 的发送和接收都采用不归零码格式，具体包括</a:t>
            </a:r>
            <a:r>
              <a:rPr lang="zh-CN" dirty="0">
                <a:latin typeface="宋体" panose="02010600030101010101" pitchFamily="2" charset="-122"/>
                <a:ea typeface="宋体" panose="02010600030101010101" pitchFamily="2" charset="-122"/>
                <a:sym typeface="+mn-ea"/>
              </a:rPr>
              <a:t>：</a:t>
            </a:r>
            <a:endParaRPr lang="zh-CN" dirty="0">
              <a:latin typeface="宋体" panose="02010600030101010101" pitchFamily="2" charset="-122"/>
              <a:ea typeface="宋体" panose="02010600030101010101" pitchFamily="2" charset="-122"/>
              <a:sym typeface="+mn-ea"/>
            </a:endParaRPr>
          </a:p>
          <a:p>
            <a:pPr fontAlgn="base">
              <a:buNone/>
            </a:pPr>
            <a:r>
              <a:rPr lang="zh-CN" dirty="0">
                <a:latin typeface="宋体" panose="02010600030101010101" pitchFamily="2" charset="-122"/>
                <a:ea typeface="宋体" panose="02010600030101010101" pitchFamily="2" charset="-122"/>
                <a:sym typeface="+mn-ea"/>
              </a:rPr>
              <a:t>①1 位起始位</a:t>
            </a:r>
            <a:endParaRPr lang="zh-CN" dirty="0">
              <a:latin typeface="宋体" panose="02010600030101010101" pitchFamily="2" charset="-122"/>
              <a:ea typeface="宋体" panose="02010600030101010101" pitchFamily="2" charset="-122"/>
              <a:sym typeface="+mn-ea"/>
            </a:endParaRPr>
          </a:p>
          <a:p>
            <a:pPr fontAlgn="base">
              <a:buNone/>
            </a:pPr>
            <a:r>
              <a:rPr lang="zh-CN" dirty="0">
                <a:latin typeface="宋体" panose="02010600030101010101" pitchFamily="2" charset="-122"/>
                <a:ea typeface="宋体" panose="02010600030101010101" pitchFamily="2" charset="-122"/>
                <a:sym typeface="+mn-ea"/>
              </a:rPr>
              <a:t>②1~8 位数据。</a:t>
            </a:r>
            <a:endParaRPr lang="zh-CN" dirty="0">
              <a:latin typeface="宋体" panose="02010600030101010101" pitchFamily="2" charset="-122"/>
              <a:ea typeface="宋体" panose="02010600030101010101" pitchFamily="2" charset="-122"/>
              <a:sym typeface="+mn-ea"/>
            </a:endParaRPr>
          </a:p>
          <a:p>
            <a:pPr fontAlgn="base">
              <a:buNone/>
            </a:pPr>
            <a:r>
              <a:rPr lang="zh-CN" dirty="0">
                <a:latin typeface="宋体" panose="02010600030101010101" pitchFamily="2" charset="-122"/>
                <a:ea typeface="宋体" panose="02010600030101010101" pitchFamily="2" charset="-122"/>
                <a:sym typeface="+mn-ea"/>
              </a:rPr>
              <a:t>③1 个奇偶校验位（可选择）。</a:t>
            </a:r>
            <a:endParaRPr lang="zh-CN" dirty="0">
              <a:latin typeface="宋体" panose="02010600030101010101" pitchFamily="2" charset="-122"/>
              <a:ea typeface="宋体" panose="02010600030101010101" pitchFamily="2" charset="-122"/>
              <a:sym typeface="+mn-ea"/>
            </a:endParaRPr>
          </a:p>
          <a:p>
            <a:pPr fontAlgn="base">
              <a:buNone/>
            </a:pPr>
            <a:r>
              <a:rPr lang="zh-CN" dirty="0">
                <a:latin typeface="宋体" panose="02010600030101010101" pitchFamily="2" charset="-122"/>
                <a:ea typeface="宋体" panose="02010600030101010101" pitchFamily="2" charset="-122"/>
                <a:sym typeface="+mn-ea"/>
              </a:rPr>
              <a:t>④1 位或 2 位停止位。</a:t>
            </a:r>
            <a:endParaRPr lang="zh-CN" dirty="0">
              <a:latin typeface="宋体" panose="02010600030101010101" pitchFamily="2" charset="-122"/>
              <a:ea typeface="宋体" panose="02010600030101010101" pitchFamily="2" charset="-122"/>
              <a:sym typeface="+mn-ea"/>
            </a:endParaRPr>
          </a:p>
          <a:p>
            <a:pPr fontAlgn="base">
              <a:buNone/>
            </a:pPr>
            <a:r>
              <a:rPr lang="zh-CN" dirty="0">
                <a:latin typeface="宋体" panose="02010600030101010101" pitchFamily="2" charset="-122"/>
                <a:ea typeface="宋体" panose="02010600030101010101" pitchFamily="2" charset="-122"/>
                <a:sym typeface="+mn-ea"/>
              </a:rPr>
              <a:t>⑤区分数据和地址的附加位（仅在地址位模式存在）</a:t>
            </a:r>
            <a:endParaRPr lang="zh-CN"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432435"/>
            <a:ext cx="10514965" cy="5926455"/>
          </a:xfrm>
        </p:spPr>
        <p:txBody>
          <a:bodyPr>
            <a:normAutofit/>
          </a:bodyPr>
          <a:p>
            <a:pPr fontAlgn="base">
              <a:buNone/>
            </a:pPr>
            <a:r>
              <a:rPr dirty="0">
                <a:latin typeface="宋体" panose="02010600030101010101" pitchFamily="2" charset="-122"/>
                <a:ea typeface="宋体" panose="02010600030101010101" pitchFamily="2" charset="-122"/>
                <a:sym typeface="+mn-ea"/>
              </a:rPr>
              <a:t>数据的基本单元称为字符，它有 1~8 位长。每个字符包括 1 位启</a:t>
            </a:r>
            <a:endParaRPr dirty="0">
              <a:latin typeface="宋体" panose="02010600030101010101" pitchFamily="2" charset="-122"/>
              <a:ea typeface="宋体" panose="02010600030101010101" pitchFamily="2" charset="-122"/>
              <a:sym typeface="+mn-ea"/>
            </a:endParaRPr>
          </a:p>
          <a:p>
            <a:pPr fontAlgn="base">
              <a:buNone/>
            </a:pPr>
            <a:r>
              <a:rPr dirty="0">
                <a:latin typeface="宋体" panose="02010600030101010101" pitchFamily="2" charset="-122"/>
                <a:ea typeface="宋体" panose="02010600030101010101" pitchFamily="2" charset="-122"/>
                <a:sym typeface="+mn-ea"/>
              </a:rPr>
              <a:t>动位、1 或2 位停止位、可选择的奇偶校验位和地址位。在 SCI </a:t>
            </a:r>
            <a:endParaRPr dirty="0">
              <a:latin typeface="宋体" panose="02010600030101010101" pitchFamily="2" charset="-122"/>
              <a:ea typeface="宋体" panose="02010600030101010101" pitchFamily="2" charset="-122"/>
              <a:sym typeface="+mn-ea"/>
            </a:endParaRPr>
          </a:p>
          <a:p>
            <a:pPr fontAlgn="base">
              <a:buNone/>
            </a:pPr>
            <a:r>
              <a:rPr dirty="0">
                <a:latin typeface="宋体" panose="02010600030101010101" pitchFamily="2" charset="-122"/>
                <a:ea typeface="宋体" panose="02010600030101010101" pitchFamily="2" charset="-122"/>
                <a:sym typeface="+mn-ea"/>
              </a:rPr>
              <a:t>通信中，带有格式信息的数字字符称为帧，如下图所示：</a:t>
            </a:r>
            <a:endParaRPr dirty="0">
              <a:latin typeface="宋体" panose="02010600030101010101" pitchFamily="2" charset="-122"/>
              <a:ea typeface="宋体" panose="02010600030101010101" pitchFamily="2" charset="-122"/>
              <a:sym typeface="+mn-ea"/>
            </a:endParaRPr>
          </a:p>
        </p:txBody>
      </p:sp>
      <p:pic>
        <p:nvPicPr>
          <p:cNvPr id="2" name="图片 1"/>
          <p:cNvPicPr>
            <a:picLocks noChangeAspect="1"/>
          </p:cNvPicPr>
          <p:nvPr/>
        </p:nvPicPr>
        <p:blipFill>
          <a:blip r:embed="rId1"/>
          <a:stretch>
            <a:fillRect/>
          </a:stretch>
        </p:blipFill>
        <p:spPr>
          <a:xfrm>
            <a:off x="3423920" y="2073275"/>
            <a:ext cx="5746115" cy="98361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838200" y="829310"/>
            <a:ext cx="10515600" cy="561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accent1"/>
                </a:solidFill>
                <a:latin typeface="黑体" panose="02010609060101010101" pitchFamily="49" charset="-122"/>
                <a:ea typeface="黑体" panose="02010609060101010101" pitchFamily="49" charset="-122"/>
                <a:cs typeface="+mj-cs"/>
              </a:defRPr>
            </a:lvl1pPr>
          </a:lstStyle>
          <a:p>
            <a:r>
              <a:rPr sz="2800" dirty="0">
                <a:latin typeface="宋体" panose="02010600030101010101" pitchFamily="2" charset="-122"/>
                <a:ea typeface="宋体" panose="02010600030101010101" pitchFamily="2" charset="-122"/>
                <a:sym typeface="+mn-ea"/>
              </a:rPr>
              <a:t>2.4 SCI 相关寄存器</a:t>
            </a:r>
            <a:endParaRPr sz="2800" dirty="0">
              <a:latin typeface="宋体" panose="02010600030101010101" pitchFamily="2" charset="-122"/>
              <a:ea typeface="宋体" panose="02010600030101010101" pitchFamily="2" charset="-122"/>
              <a:sym typeface="+mn-ea"/>
            </a:endParaRPr>
          </a:p>
        </p:txBody>
      </p:sp>
      <p:pic>
        <p:nvPicPr>
          <p:cNvPr id="4" name="图片 3"/>
          <p:cNvPicPr>
            <a:picLocks noChangeAspect="1"/>
          </p:cNvPicPr>
          <p:nvPr/>
        </p:nvPicPr>
        <p:blipFill>
          <a:blip r:embed="rId1"/>
          <a:stretch>
            <a:fillRect/>
          </a:stretch>
        </p:blipFill>
        <p:spPr>
          <a:xfrm>
            <a:off x="2705100" y="1501775"/>
            <a:ext cx="6781800" cy="474218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62610"/>
          </a:xfrm>
        </p:spPr>
        <p:txBody>
          <a:bodyPr>
            <a:normAutofit/>
          </a:bodyPr>
          <a:lstStyle/>
          <a:p>
            <a:r>
              <a:rPr lang="en-US" altLang="zh-CN" dirty="0">
                <a:latin typeface="宋体" panose="02010600030101010101" pitchFamily="2" charset="-122"/>
                <a:ea typeface="宋体" panose="02010600030101010101" pitchFamily="2" charset="-122"/>
                <a:sym typeface="+mn-ea"/>
              </a:rPr>
              <a:t>3.SCI</a:t>
            </a:r>
            <a:r>
              <a:rPr lang="zh-CN" altLang="en-US" dirty="0">
                <a:latin typeface="宋体" panose="02010600030101010101" pitchFamily="2" charset="-122"/>
                <a:ea typeface="宋体" panose="02010600030101010101" pitchFamily="2" charset="-122"/>
                <a:sym typeface="+mn-ea"/>
              </a:rPr>
              <a:t>配置步骤</a:t>
            </a:r>
            <a:endParaRPr lang="zh-CN" altLang="en-US" dirty="0"/>
          </a:p>
        </p:txBody>
      </p:sp>
      <p:sp>
        <p:nvSpPr>
          <p:cNvPr id="5" name="内容占位符 4"/>
          <p:cNvSpPr>
            <a:spLocks noGrp="1"/>
          </p:cNvSpPr>
          <p:nvPr>
            <p:ph idx="1"/>
          </p:nvPr>
        </p:nvSpPr>
        <p:spPr>
          <a:xfrm>
            <a:off x="838200" y="1163320"/>
            <a:ext cx="10514965" cy="5195570"/>
          </a:xfrm>
        </p:spPr>
        <p:txBody>
          <a:bodyPr>
            <a:normAutofit lnSpcReduction="10000"/>
          </a:bodyPr>
          <a:p>
            <a:pPr>
              <a:buNone/>
            </a:pPr>
            <a:r>
              <a:rPr dirty="0">
                <a:latin typeface="宋体" panose="02010600030101010101" pitchFamily="2" charset="-122"/>
                <a:ea typeface="宋体" panose="02010600030101010101" pitchFamily="2" charset="-122"/>
                <a:sym typeface="+mn-ea"/>
              </a:rPr>
              <a:t>SCI 相关库函数在 DSP2833x_Sci.c和 DSP2833x_Sci.h 文件中</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（1）使能 SCI 外设时钟及初始化对应 GPIO</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EALLOW;</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SysCtrlRegs.PCLKCR0.bit.SCIAENCLK = 1; // SCI-A</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EDIS;</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InitSciGpio();</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（2）SCI 工作方式及参数设置，包括数据格式、波特率、使能发</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送、接收功能等。</a:t>
            </a:r>
            <a:endParaRPr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426720"/>
            <a:ext cx="10514965" cy="5932170"/>
          </a:xfrm>
        </p:spPr>
        <p:txBody>
          <a:bodyPr>
            <a:normAutofit fontScale="50000"/>
          </a:bodyPr>
          <a:p>
            <a:pPr>
              <a:buNone/>
            </a:pPr>
            <a:r>
              <a:rPr dirty="0">
                <a:latin typeface="宋体" panose="02010600030101010101" pitchFamily="2" charset="-122"/>
                <a:ea typeface="宋体" panose="02010600030101010101" pitchFamily="2" charset="-122"/>
                <a:sym typeface="+mn-ea"/>
              </a:rPr>
              <a:t>//Initalize the SCI FIFO</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SciaRegs.SCIFFTX.all=0xE040;</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SciaRegs.SCIFFRX.all=0x204f;</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SciaRegs.SCIFFCT.all=0x0;</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 Note: Clocks were turned on to the SCIA peripheral</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 in the InitSysCtrl() function</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SciaRegs.SCICCR.all =0x0007; // 1 stop bit, No loopback</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 No parity,8 char bits,</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 async mode, idle-line protocol</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SciaRegs.SCICTL1.all =0x0003; // enable TX, RX, internal SCICLK,</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 Disable RX ERR, SLEEP, TXWAKE</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SciaRegs.SCICTL2.all =0x0003;</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SciaRegs.SCICTL2.bit.TXINTENA =1;</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SciaRegs.SCICTL2.bit.RXBKINTENA =1;</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SciaRegs.SCIHBAUD =scihbaud; // baud set @LSPCLK = 37.5MHz.</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SciaRegs.SCILBAUD =scilbaud;</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 SciaRegs.SCICCR.bit.LOOPBKENA =1; // Enable loop back</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SciaRegs.SCICTL1.all =0x0023; // Relinquish SCI from Reset</a:t>
            </a:r>
            <a:endParaRPr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426720"/>
            <a:ext cx="10514965" cy="5932170"/>
          </a:xfrm>
        </p:spPr>
        <p:txBody>
          <a:bodyPr>
            <a:normAutofit/>
          </a:bodyPr>
          <a:p>
            <a:pPr>
              <a:buNone/>
            </a:pPr>
            <a:r>
              <a:rPr dirty="0">
                <a:latin typeface="宋体" panose="02010600030101010101" pitchFamily="2" charset="-122"/>
                <a:ea typeface="宋体" panose="02010600030101010101" pitchFamily="2" charset="-122"/>
                <a:sym typeface="+mn-ea"/>
              </a:rPr>
              <a:t>scibaud=37500000/(8*baud)-1;</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scihbaud=scibaud&gt;&gt;8;</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scilbaud=scibaud&amp;0xff;</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（3）SCI 发送字节函数</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void UARTa_SendByte(int a)</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a:t>
            </a:r>
            <a:endParaRPr dirty="0">
              <a:latin typeface="宋体" panose="02010600030101010101" pitchFamily="2" charset="-122"/>
              <a:ea typeface="宋体" panose="02010600030101010101" pitchFamily="2" charset="-122"/>
              <a:sym typeface="+mn-ea"/>
            </a:endParaRPr>
          </a:p>
          <a:p>
            <a:pPr>
              <a:buNone/>
            </a:pPr>
            <a:r>
              <a:rPr lang="en-US" dirty="0">
                <a:latin typeface="宋体" panose="02010600030101010101" pitchFamily="2" charset="-122"/>
                <a:ea typeface="宋体" panose="02010600030101010101" pitchFamily="2" charset="-122"/>
                <a:sym typeface="+mn-ea"/>
              </a:rPr>
              <a:t>	</a:t>
            </a:r>
            <a:r>
              <a:rPr dirty="0">
                <a:latin typeface="宋体" panose="02010600030101010101" pitchFamily="2" charset="-122"/>
                <a:ea typeface="宋体" panose="02010600030101010101" pitchFamily="2" charset="-122"/>
                <a:sym typeface="+mn-ea"/>
              </a:rPr>
              <a:t>while (SciaRegs.SCIFFTX.bit.TXFFST != 0);</a:t>
            </a:r>
            <a:endParaRPr dirty="0">
              <a:latin typeface="宋体" panose="02010600030101010101" pitchFamily="2" charset="-122"/>
              <a:ea typeface="宋体" panose="02010600030101010101" pitchFamily="2" charset="-122"/>
              <a:sym typeface="+mn-ea"/>
            </a:endParaRPr>
          </a:p>
          <a:p>
            <a:pPr>
              <a:buNone/>
            </a:pPr>
            <a:r>
              <a:rPr lang="en-US" dirty="0">
                <a:latin typeface="宋体" panose="02010600030101010101" pitchFamily="2" charset="-122"/>
                <a:ea typeface="宋体" panose="02010600030101010101" pitchFamily="2" charset="-122"/>
                <a:sym typeface="+mn-ea"/>
              </a:rPr>
              <a:t>	</a:t>
            </a:r>
            <a:r>
              <a:rPr dirty="0">
                <a:latin typeface="宋体" panose="02010600030101010101" pitchFamily="2" charset="-122"/>
                <a:ea typeface="宋体" panose="02010600030101010101" pitchFamily="2" charset="-122"/>
                <a:sym typeface="+mn-ea"/>
              </a:rPr>
              <a:t>SciaRegs.SCITXBUF=a;</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a:t>
            </a:r>
            <a:endParaRPr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426720"/>
            <a:ext cx="10514965" cy="5932170"/>
          </a:xfrm>
        </p:spPr>
        <p:txBody>
          <a:bodyPr>
            <a:normAutofit/>
          </a:bodyPr>
          <a:p>
            <a:pPr>
              <a:buNone/>
            </a:pPr>
            <a:r>
              <a:rPr dirty="0">
                <a:latin typeface="宋体" panose="02010600030101010101" pitchFamily="2" charset="-122"/>
                <a:ea typeface="宋体" panose="02010600030101010101" pitchFamily="2" charset="-122"/>
                <a:sym typeface="+mn-ea"/>
              </a:rPr>
              <a:t>void UARTa_SendString(char * msg)</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a:t>
            </a:r>
            <a:endParaRPr dirty="0">
              <a:latin typeface="宋体" panose="02010600030101010101" pitchFamily="2" charset="-122"/>
              <a:ea typeface="宋体" panose="02010600030101010101" pitchFamily="2" charset="-122"/>
              <a:sym typeface="+mn-ea"/>
            </a:endParaRPr>
          </a:p>
          <a:p>
            <a:pPr lvl="1">
              <a:buNone/>
            </a:pPr>
            <a:r>
              <a:rPr dirty="0">
                <a:latin typeface="宋体" panose="02010600030101010101" pitchFamily="2" charset="-122"/>
                <a:ea typeface="宋体" panose="02010600030101010101" pitchFamily="2" charset="-122"/>
                <a:sym typeface="+mn-ea"/>
              </a:rPr>
              <a:t>int i=0;</a:t>
            </a:r>
            <a:endParaRPr dirty="0">
              <a:latin typeface="宋体" panose="02010600030101010101" pitchFamily="2" charset="-122"/>
              <a:ea typeface="宋体" panose="02010600030101010101" pitchFamily="2" charset="-122"/>
              <a:sym typeface="+mn-ea"/>
            </a:endParaRPr>
          </a:p>
          <a:p>
            <a:pPr lvl="1">
              <a:buNone/>
            </a:pPr>
            <a:r>
              <a:rPr dirty="0">
                <a:latin typeface="宋体" panose="02010600030101010101" pitchFamily="2" charset="-122"/>
                <a:ea typeface="宋体" panose="02010600030101010101" pitchFamily="2" charset="-122"/>
                <a:sym typeface="+mn-ea"/>
              </a:rPr>
              <a:t>while(msg[i] != '\0')</a:t>
            </a:r>
            <a:endParaRPr dirty="0">
              <a:latin typeface="宋体" panose="02010600030101010101" pitchFamily="2" charset="-122"/>
              <a:ea typeface="宋体" panose="02010600030101010101" pitchFamily="2" charset="-122"/>
              <a:sym typeface="+mn-ea"/>
            </a:endParaRPr>
          </a:p>
          <a:p>
            <a:pPr lvl="1">
              <a:buNone/>
            </a:pPr>
            <a:r>
              <a:rPr dirty="0">
                <a:latin typeface="宋体" panose="02010600030101010101" pitchFamily="2" charset="-122"/>
                <a:ea typeface="宋体" panose="02010600030101010101" pitchFamily="2" charset="-122"/>
                <a:sym typeface="+mn-ea"/>
              </a:rPr>
              <a:t>{</a:t>
            </a:r>
            <a:endParaRPr dirty="0">
              <a:latin typeface="宋体" panose="02010600030101010101" pitchFamily="2" charset="-122"/>
              <a:ea typeface="宋体" panose="02010600030101010101" pitchFamily="2" charset="-122"/>
              <a:sym typeface="+mn-ea"/>
            </a:endParaRPr>
          </a:p>
          <a:p>
            <a:pPr lvl="2">
              <a:buNone/>
            </a:pPr>
            <a:r>
              <a:rPr dirty="0">
                <a:latin typeface="宋体" panose="02010600030101010101" pitchFamily="2" charset="-122"/>
                <a:ea typeface="宋体" panose="02010600030101010101" pitchFamily="2" charset="-122"/>
                <a:sym typeface="+mn-ea"/>
              </a:rPr>
              <a:t>UARTa_SendByte(msg[i]);</a:t>
            </a:r>
            <a:endParaRPr dirty="0">
              <a:latin typeface="宋体" panose="02010600030101010101" pitchFamily="2" charset="-122"/>
              <a:ea typeface="宋体" panose="02010600030101010101" pitchFamily="2" charset="-122"/>
              <a:sym typeface="+mn-ea"/>
            </a:endParaRPr>
          </a:p>
          <a:p>
            <a:pPr lvl="2">
              <a:buNone/>
            </a:pPr>
            <a:r>
              <a:rPr dirty="0">
                <a:latin typeface="宋体" panose="02010600030101010101" pitchFamily="2" charset="-122"/>
                <a:ea typeface="宋体" panose="02010600030101010101" pitchFamily="2" charset="-122"/>
                <a:sym typeface="+mn-ea"/>
              </a:rPr>
              <a:t>i++;</a:t>
            </a:r>
            <a:endParaRPr dirty="0">
              <a:latin typeface="宋体" panose="02010600030101010101" pitchFamily="2" charset="-122"/>
              <a:ea typeface="宋体" panose="02010600030101010101" pitchFamily="2" charset="-122"/>
              <a:sym typeface="+mn-ea"/>
            </a:endParaRPr>
          </a:p>
          <a:p>
            <a:pPr lvl="1">
              <a:buNone/>
            </a:pPr>
            <a:r>
              <a:rPr dirty="0">
                <a:latin typeface="宋体" panose="02010600030101010101" pitchFamily="2" charset="-122"/>
                <a:ea typeface="宋体" panose="02010600030101010101" pitchFamily="2" charset="-122"/>
                <a:sym typeface="+mn-ea"/>
              </a:rPr>
              <a:t>}</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a:t>
            </a:r>
            <a:endParaRPr dirty="0">
              <a:latin typeface="宋体" panose="02010600030101010101" pitchFamily="2" charset="-122"/>
              <a:ea typeface="宋体" panose="02010600030101010101" pitchFamily="2" charset="-122"/>
              <a:sym typeface="+mn-ea"/>
            </a:endParaRPr>
          </a:p>
          <a:p>
            <a:pPr>
              <a:buNone/>
            </a:pPr>
            <a:endParaRPr dirty="0">
              <a:latin typeface="宋体" panose="02010600030101010101" pitchFamily="2" charset="-122"/>
              <a:ea typeface="宋体" panose="02010600030101010101" pitchFamily="2" charset="-122"/>
              <a:sym typeface="+mn-ea"/>
            </a:endParaRPr>
          </a:p>
          <a:p>
            <a:pPr>
              <a:buNone/>
            </a:pPr>
            <a:endParaRPr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00" y="426720"/>
            <a:ext cx="10514965" cy="5932170"/>
          </a:xfrm>
        </p:spPr>
        <p:txBody>
          <a:bodyPr>
            <a:normAutofit/>
          </a:bodyPr>
          <a:p>
            <a:pPr>
              <a:buNone/>
            </a:pPr>
            <a:r>
              <a:rPr dirty="0">
                <a:latin typeface="宋体" panose="02010600030101010101" pitchFamily="2" charset="-122"/>
                <a:ea typeface="宋体" panose="02010600030101010101" pitchFamily="2" charset="-122"/>
                <a:sym typeface="+mn-ea"/>
              </a:rPr>
              <a:t>（4）SCI 接收字节函数</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 Wait for inc character</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while(SciaRegs.SCIFFRX.bit.RXFFST !=1);// wait for XRDY =1 for empty state</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 Get character</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ReceivedChar = SciaRegs.SCIRXBUF.all;</a:t>
            </a:r>
            <a:endParaRPr dirty="0">
              <a:latin typeface="宋体" panose="02010600030101010101" pitchFamily="2" charset="-122"/>
              <a:ea typeface="宋体" panose="02010600030101010101" pitchFamily="2" charset="-122"/>
              <a:sym typeface="+mn-ea"/>
            </a:endParaRPr>
          </a:p>
          <a:p>
            <a:pPr>
              <a:buNone/>
            </a:pPr>
            <a:endParaRPr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62610"/>
          </a:xfrm>
        </p:spPr>
        <p:txBody>
          <a:bodyPr>
            <a:normAutofit/>
          </a:bodyPr>
          <a:lstStyle/>
          <a:p>
            <a:r>
              <a:rPr lang="en-US" altLang="zh-CN" dirty="0">
                <a:latin typeface="宋体" panose="02010600030101010101" pitchFamily="2" charset="-122"/>
                <a:ea typeface="宋体" panose="02010600030101010101" pitchFamily="2" charset="-122"/>
                <a:sym typeface="+mn-ea"/>
              </a:rPr>
              <a:t>4.</a:t>
            </a:r>
            <a:r>
              <a:rPr lang="zh-CN" altLang="en-US" dirty="0">
                <a:latin typeface="宋体" panose="02010600030101010101" pitchFamily="2" charset="-122"/>
                <a:ea typeface="宋体" panose="02010600030101010101" pitchFamily="2" charset="-122"/>
                <a:sym typeface="+mn-ea"/>
              </a:rPr>
              <a:t>硬件设计</a:t>
            </a:r>
            <a:endParaRPr lang="zh-CN" altLang="en-US" dirty="0"/>
          </a:p>
        </p:txBody>
      </p:sp>
      <p:sp>
        <p:nvSpPr>
          <p:cNvPr id="5" name="内容占位符 4"/>
          <p:cNvSpPr>
            <a:spLocks noGrp="1"/>
          </p:cNvSpPr>
          <p:nvPr>
            <p:ph idx="1"/>
          </p:nvPr>
        </p:nvSpPr>
        <p:spPr>
          <a:xfrm>
            <a:off x="838200" y="1163320"/>
            <a:ext cx="10514965" cy="5195570"/>
          </a:xfrm>
        </p:spPr>
        <p:txBody>
          <a:bodyPr>
            <a:normAutofit lnSpcReduction="10000"/>
          </a:bodyPr>
          <a:p>
            <a:pPr>
              <a:buNone/>
            </a:pPr>
            <a:r>
              <a:rPr dirty="0">
                <a:latin typeface="宋体" panose="02010600030101010101" pitchFamily="2" charset="-122"/>
                <a:ea typeface="宋体" panose="02010600030101010101" pitchFamily="2" charset="-122"/>
                <a:sym typeface="+mn-ea"/>
              </a:rPr>
              <a:t>本实验使用到硬件资源如下：</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（1）D1 指示灯</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（2）SCIA</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（3）RS232 模块</a:t>
            </a:r>
            <a:endParaRPr dirty="0">
              <a:latin typeface="宋体" panose="02010600030101010101" pitchFamily="2" charset="-122"/>
              <a:ea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3966845" y="1596390"/>
            <a:ext cx="7012305" cy="467931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62610"/>
          </a:xfrm>
        </p:spPr>
        <p:txBody>
          <a:bodyPr>
            <a:normAutofit/>
          </a:bodyPr>
          <a:lstStyle/>
          <a:p>
            <a:r>
              <a:rPr lang="en-US" altLang="zh-CN" dirty="0">
                <a:latin typeface="宋体" panose="02010600030101010101" pitchFamily="2" charset="-122"/>
                <a:ea typeface="宋体" panose="02010600030101010101" pitchFamily="2" charset="-122"/>
                <a:sym typeface="+mn-ea"/>
              </a:rPr>
              <a:t>5.</a:t>
            </a:r>
            <a:r>
              <a:rPr lang="zh-CN" altLang="en-US" dirty="0">
                <a:latin typeface="宋体" panose="02010600030101010101" pitchFamily="2" charset="-122"/>
                <a:ea typeface="宋体" panose="02010600030101010101" pitchFamily="2" charset="-122"/>
                <a:sym typeface="+mn-ea"/>
              </a:rPr>
              <a:t>软件设计</a:t>
            </a:r>
            <a:endParaRPr lang="zh-CN" altLang="en-US" dirty="0"/>
          </a:p>
        </p:txBody>
      </p:sp>
      <p:sp>
        <p:nvSpPr>
          <p:cNvPr id="5" name="内容占位符 4"/>
          <p:cNvSpPr>
            <a:spLocks noGrp="1"/>
          </p:cNvSpPr>
          <p:nvPr>
            <p:ph idx="1"/>
          </p:nvPr>
        </p:nvSpPr>
        <p:spPr>
          <a:xfrm>
            <a:off x="838200" y="1163320"/>
            <a:ext cx="10514965" cy="5195570"/>
          </a:xfrm>
        </p:spPr>
        <p:txBody>
          <a:bodyPr>
            <a:normAutofit lnSpcReduction="10000"/>
          </a:bodyPr>
          <a:p>
            <a:pPr>
              <a:buNone/>
            </a:pPr>
            <a:r>
              <a:rPr dirty="0">
                <a:latin typeface="宋体" panose="02010600030101010101" pitchFamily="2" charset="-122"/>
                <a:ea typeface="宋体" panose="02010600030101010101" pitchFamily="2" charset="-122"/>
                <a:sym typeface="+mn-ea"/>
              </a:rPr>
              <a:t>本章所要实现的功能是：通过 SCIA 实现与 PC 机对话，F28335 </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的 SCIA 收到 PC 机发来的数据后原封不动的返回给 PC 机显示，</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定时器 0 控制 D1 指示灯闪烁，提示系统运行状态。程序框架如</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下：</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（1）初始化 SCIA 相关参数，开启串口发送和接收功能</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（2）编写串口发送函数</a:t>
            </a:r>
            <a:endParaRPr dirty="0">
              <a:latin typeface="宋体" panose="02010600030101010101" pitchFamily="2" charset="-122"/>
              <a:ea typeface="宋体" panose="02010600030101010101" pitchFamily="2" charset="-122"/>
              <a:sym typeface="+mn-ea"/>
            </a:endParaRPr>
          </a:p>
          <a:p>
            <a:pPr>
              <a:buNone/>
            </a:pPr>
            <a:r>
              <a:rPr dirty="0">
                <a:latin typeface="宋体" panose="02010600030101010101" pitchFamily="2" charset="-122"/>
                <a:ea typeface="宋体" panose="02010600030101010101" pitchFamily="2" charset="-122"/>
                <a:sym typeface="+mn-ea"/>
              </a:rPr>
              <a:t>（3）编写主函数</a:t>
            </a:r>
            <a:endParaRPr dirty="0">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TAG_VERSION" val="1.0"/>
  <p:tag name="KSO_WM_TEMPLATE_CATEGORY" val="custom"/>
  <p:tag name="KSO_WM_TEMPLATE_INDEX" val="160428"/>
</p:tagLst>
</file>

<file path=ppt/tags/tag2.xml><?xml version="1.0" encoding="utf-8"?>
<p:tagLst xmlns:p="http://schemas.openxmlformats.org/presentationml/2006/main">
  <p:tag name="KSO_WM_TAG_VERSION" val="1.0"/>
  <p:tag name="KSO_WM_TEMPLATE_CATEGORY" val="custom"/>
  <p:tag name="KSO_WM_TEMPLATE_INDEX" val="160428"/>
</p:tagLst>
</file>

<file path=ppt/tags/tag3.xml><?xml version="1.0" encoding="utf-8"?>
<p:tagLst xmlns:p="http://schemas.openxmlformats.org/presentationml/2006/main">
  <p:tag name="KSO_WM_TAG_VERSION" val="1.0"/>
  <p:tag name="KSO_WM_BEAUTIFY_FLAG" val="#wm#"/>
  <p:tag name="KSO_WM_TEMPLATE_CATEGORY" val="custom"/>
  <p:tag name="KSO_WM_TEMPLATE_INDEX" val="160428"/>
  <p:tag name="KSO_WM_UNIT_TYPE" val="a"/>
  <p:tag name="KSO_WM_UNIT_INDEX" val="1"/>
  <p:tag name="KSO_WM_UNIT_ID" val="custom160428_1*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4.xml><?xml version="1.0" encoding="utf-8"?>
<p:tagLst xmlns:p="http://schemas.openxmlformats.org/presentationml/2006/main">
  <p:tag name="KSO_WM_TEMPLATE_THUMBS_INDEX" val="1、9、12、16、20、26、28、29"/>
  <p:tag name="KSO_WM_TEMPLATE_CATEGORY" val="custom"/>
  <p:tag name="KSO_WM_TEMPLATE_INDEX" val="160428"/>
  <p:tag name="KSO_WM_TAG_VERSION" val="1.0"/>
  <p:tag name="KSO_WM_SLIDE_ID" val="custom160428_1"/>
  <p:tag name="KSO_WM_SLIDE_INDEX" val="1"/>
  <p:tag name="KSO_WM_SLIDE_ITEM_CNT" val="2"/>
  <p:tag name="KSO_WM_SLIDE_LAYOUT" val="a_b"/>
  <p:tag name="KSO_WM_SLIDE_LAYOUT_CNT" val="1_1"/>
  <p:tag name="KSO_WM_SLIDE_TYPE" val="title"/>
  <p:tag name="KSO_WM_BEAUTIFY_FLAG" val="#wm#"/>
</p:tagLst>
</file>

<file path=ppt/theme/theme1.xml><?xml version="1.0" encoding="utf-8"?>
<a:theme xmlns:a="http://schemas.openxmlformats.org/drawingml/2006/main" name="1_A000120140530A99PPBG">
  <a:themeElements>
    <a:clrScheme name="141">
      <a:dk1>
        <a:srgbClr val="5F5F5F"/>
      </a:dk1>
      <a:lt1>
        <a:sysClr val="window" lastClr="FFFFFF"/>
      </a:lt1>
      <a:dk2>
        <a:srgbClr val="5F5F5F"/>
      </a:dk2>
      <a:lt2>
        <a:srgbClr val="FFFFFF"/>
      </a:lt2>
      <a:accent1>
        <a:srgbClr val="87A452"/>
      </a:accent1>
      <a:accent2>
        <a:srgbClr val="58B898"/>
      </a:accent2>
      <a:accent3>
        <a:srgbClr val="489698"/>
      </a:accent3>
      <a:accent4>
        <a:srgbClr val="C2C25E"/>
      </a:accent4>
      <a:accent5>
        <a:srgbClr val="C00000"/>
      </a:accent5>
      <a:accent6>
        <a:srgbClr val="FFC000"/>
      </a:accent6>
      <a:hlink>
        <a:srgbClr val="00B0F0"/>
      </a:hlink>
      <a:folHlink>
        <a:srgbClr val="7F7F7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4013</Words>
  <Application>WPS 演示</Application>
  <PresentationFormat>自定义</PresentationFormat>
  <Paragraphs>239</Paragraphs>
  <Slides>27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27</vt:i4>
      </vt:variant>
    </vt:vector>
  </HeadingPairs>
  <TitlesOfParts>
    <vt:vector size="37" baseType="lpstr">
      <vt:lpstr>Arial</vt:lpstr>
      <vt:lpstr>宋体</vt:lpstr>
      <vt:lpstr>Wingdings</vt:lpstr>
      <vt:lpstr>黑体</vt:lpstr>
      <vt:lpstr>Wingdings 2</vt:lpstr>
      <vt:lpstr>微软雅黑</vt:lpstr>
      <vt:lpstr>Arial Unicode MS</vt:lpstr>
      <vt:lpstr>Wingdings</vt:lpstr>
      <vt:lpstr>Calibri</vt:lpstr>
      <vt:lpstr>1_A000120140530A99PPBG</vt:lpstr>
      <vt:lpstr>RS232通信实验</vt:lpstr>
      <vt:lpstr>本讲主要内容</vt:lpstr>
      <vt:lpstr>1.通信的基本概念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2.F28335的SCI介绍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1.通信的基本概念</vt:lpstr>
      <vt:lpstr>3.SCI配置步骤</vt:lpstr>
      <vt:lpstr>PowerPoint 演示文稿</vt:lpstr>
      <vt:lpstr>PowerPoint 演示文稿</vt:lpstr>
      <vt:lpstr>PowerPoint 演示文稿</vt:lpstr>
      <vt:lpstr>3.SCI配置步骤</vt:lpstr>
      <vt:lpstr>4.硬件设计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认识和了解开发板功能及其使用</dc:title>
  <dc:creator/>
  <cp:lastModifiedBy>普中科技35</cp:lastModifiedBy>
  <cp:revision>107</cp:revision>
  <dcterms:created xsi:type="dcterms:W3CDTF">2015-05-05T08:02:00Z</dcterms:created>
  <dcterms:modified xsi:type="dcterms:W3CDTF">2019-05-12T03:20:16Z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2052-11.1.0.8612</vt:lpwstr>
  </property>
</Properties>
</file>