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13"/>
  </p:notesMasterIdLst>
  <p:sldIdLst>
    <p:sldId id="257" r:id="rId3"/>
    <p:sldId id="258" r:id="rId4"/>
    <p:sldId id="259" r:id="rId5"/>
    <p:sldId id="268" r:id="rId6"/>
    <p:sldId id="303" r:id="rId7"/>
    <p:sldId id="302" r:id="rId8"/>
    <p:sldId id="265" r:id="rId9"/>
    <p:sldId id="277" r:id="rId10"/>
    <p:sldId id="289" r:id="rId11"/>
    <p:sldId id="267" r:id="rId12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7" autoAdjust="0"/>
    <p:restoredTop sz="94660"/>
  </p:normalViewPr>
  <p:slideViewPr>
    <p:cSldViewPr snapToGrid="0">
      <p:cViewPr varScale="1">
        <p:scale>
          <a:sx n="70" d="100"/>
          <a:sy n="70" d="100"/>
        </p:scale>
        <p:origin x="-702" y="-108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7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6" Type="http://schemas.openxmlformats.org/officeDocument/2006/relationships/tableStyles" Target="tableStyles.xml"/><Relationship Id="rId15" Type="http://schemas.openxmlformats.org/officeDocument/2006/relationships/viewProps" Target="viewProps.xml"/><Relationship Id="rId14" Type="http://schemas.openxmlformats.org/officeDocument/2006/relationships/presProps" Target="presProps.xml"/><Relationship Id="rId13" Type="http://schemas.openxmlformats.org/officeDocument/2006/relationships/notesMaster" Target="notesMasters/notesMaster1.xml"/><Relationship Id="rId12" Type="http://schemas.openxmlformats.org/officeDocument/2006/relationships/slide" Target="slides/slide10.xml"/><Relationship Id="rId11" Type="http://schemas.openxmlformats.org/officeDocument/2006/relationships/slide" Target="slides/slide9.xml"/><Relationship Id="rId10" Type="http://schemas.openxmlformats.org/officeDocument/2006/relationships/slide" Target="slides/slide8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2A48B96-639E-45A3-A0BA-2464DFDB1FAA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6837353-30EB-4A48-80EB-173D804AEFBD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bg>
      <p:bgPr>
        <a:blipFill dpi="0" rotWithShape="1">
          <a:blip r:embed="rId2" cstate="print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904838" y="3186053"/>
            <a:ext cx="6982361" cy="1178920"/>
          </a:xfrm>
        </p:spPr>
        <p:txBody>
          <a:bodyPr anchor="b">
            <a:normAutofit/>
          </a:bodyPr>
          <a:lstStyle>
            <a:lvl1pPr algn="ctr">
              <a:defRPr sz="4400"/>
            </a:lvl1pPr>
          </a:lstStyle>
          <a:p>
            <a:r>
              <a:rPr lang="zh-CN" altLang="en-US" dirty="0" smtClean="0"/>
              <a:t>单击此处编辑母版标题样式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4904838" y="4538211"/>
            <a:ext cx="6982361" cy="469218"/>
          </a:xfrm>
        </p:spPr>
        <p:txBody>
          <a:bodyPr>
            <a:normAutofit/>
          </a:bodyPr>
          <a:lstStyle>
            <a:lvl1pPr marL="0" indent="0" algn="ctr">
              <a:buNone/>
              <a:defRPr sz="1800">
                <a:solidFill>
                  <a:schemeClr val="accent2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dirty="0" smtClean="0"/>
              <a:t>单击此处编辑母版副标题样式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8CBE0A-6AF3-4DB5-863D-349F94148999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ADA3DE-FABF-4925-BE42-A002C40F88EB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8CBE0A-6AF3-4DB5-863D-349F94148999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ADA3DE-FABF-4925-BE42-A002C40F88EB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SO_ST1"/>
          <p:cNvSpPr>
            <a:spLocks noGrp="1"/>
          </p:cNvSpPr>
          <p:nvPr>
            <p:ph type="title" hasCustomPrompt="1"/>
          </p:nvPr>
        </p:nvSpPr>
        <p:spPr>
          <a:xfrm>
            <a:off x="2964874" y="2770413"/>
            <a:ext cx="5065514" cy="637806"/>
          </a:xfrm>
        </p:spPr>
        <p:txBody>
          <a:bodyPr anchor="t" anchorCtr="0">
            <a:normAutofit/>
          </a:bodyPr>
          <a:lstStyle>
            <a:lvl1pPr algn="r">
              <a:defRPr sz="2800" b="0">
                <a:solidFill>
                  <a:schemeClr val="tx2"/>
                </a:solidFill>
                <a:effectLst/>
              </a:defRPr>
            </a:lvl1pPr>
          </a:lstStyle>
          <a:p>
            <a:r>
              <a:rPr lang="zh-CN" altLang="en-US" dirty="0" smtClean="0"/>
              <a:t>此处添加您的标题</a:t>
            </a:r>
            <a:endParaRPr lang="en-US" dirty="0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8CBE0A-6AF3-4DB5-863D-349F94148999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ADA3DE-FABF-4925-BE42-A002C40F88EB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458687"/>
            <a:ext cx="5181600" cy="3509554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458687"/>
            <a:ext cx="5181600" cy="3509554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8CBE0A-6AF3-4DB5-863D-349F94148999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ADA3DE-FABF-4925-BE42-A002C40F88EB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944563"/>
          </a:xfrm>
        </p:spPr>
        <p:txBody>
          <a:bodyPr/>
          <a:lstStyle/>
          <a:p>
            <a:r>
              <a:rPr lang="zh-CN" altLang="en-US" dirty="0" smtClean="0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437323"/>
            <a:ext cx="5157787" cy="513397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dirty="0" smtClean="0"/>
              <a:t>单击此处编辑母版文本样式</a:t>
            </a:r>
            <a:endParaRPr lang="zh-CN" altLang="en-US" dirty="0" smtClean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063115"/>
            <a:ext cx="5157787" cy="2905125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437323"/>
            <a:ext cx="5183188" cy="513397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063115"/>
            <a:ext cx="5183188" cy="2905125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8CBE0A-6AF3-4DB5-863D-349F94148999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ADA3DE-FABF-4925-BE42-A002C40F88EB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3608615" y="2002969"/>
            <a:ext cx="4974771" cy="1828800"/>
          </a:xfrm>
        </p:spPr>
        <p:txBody>
          <a:bodyPr>
            <a:noAutofit/>
          </a:bodyPr>
          <a:lstStyle>
            <a:lvl1pPr algn="ctr">
              <a:defRPr sz="7200"/>
            </a:lvl1pPr>
          </a:lstStyle>
          <a:p>
            <a:r>
              <a:rPr lang="zh-CN" altLang="en-US" dirty="0" smtClean="0"/>
              <a:t>编辑标题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5B98A9-C20B-4D5B-92DA-1D75B9D715AC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9B50B9-7135-4D78-A58F-DF4CD6531EC2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8CBE0A-6AF3-4DB5-863D-349F94148999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ADA3DE-FABF-4925-BE42-A002C40F88EB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78692" y="457200"/>
            <a:ext cx="10034617" cy="718457"/>
          </a:xfrm>
        </p:spPr>
        <p:txBody>
          <a:bodyPr anchor="ctr">
            <a:normAutofit/>
          </a:bodyPr>
          <a:lstStyle>
            <a:lvl1pPr algn="ctr">
              <a:defRPr sz="2800"/>
            </a:lvl1pPr>
          </a:lstStyle>
          <a:p>
            <a:r>
              <a:rPr lang="zh-CN" altLang="en-US" smtClean="0"/>
              <a:t>单击此处编辑母版标题样式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083129" y="1197429"/>
            <a:ext cx="10025743" cy="2917372"/>
          </a:xfrm>
        </p:spPr>
        <p:txBody>
          <a:bodyPr anchor="ctr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zh-CN" altLang="en-US" smtClean="0"/>
              <a:t>单击图标添加图片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539240" y="4288973"/>
            <a:ext cx="9569632" cy="1980293"/>
          </a:xfrm>
        </p:spPr>
        <p:txBody>
          <a:bodyPr>
            <a:normAutofit/>
          </a:bodyPr>
          <a:lstStyle>
            <a:lvl1pPr marL="0" indent="0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dirty="0" smtClean="0"/>
              <a:t>单击此处编辑母版文本样式</a:t>
            </a:r>
            <a:endParaRPr lang="zh-CN" altLang="en-US" dirty="0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8CBE0A-6AF3-4DB5-863D-349F94148999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ADA3DE-FABF-4925-BE42-A002C40F88EB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&#10;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10297886" y="365125"/>
            <a:ext cx="1055914" cy="5811838"/>
          </a:xfrm>
        </p:spPr>
        <p:txBody>
          <a:bodyPr vert="eaVert"/>
          <a:lstStyle/>
          <a:p>
            <a:r>
              <a:rPr lang="zh-CN" altLang="en-US" smtClean="0"/>
              <a:t>单击此处编辑母版标题样式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458686" y="365125"/>
            <a:ext cx="8665028" cy="5811838"/>
          </a:xfrm>
        </p:spPr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8CBE0A-6AF3-4DB5-863D-349F94148999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ADA3DE-FABF-4925-BE42-A002C40F88EB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837600" y="408675"/>
            <a:ext cx="10516800" cy="5810400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</a:lstStyle>
          <a:p>
            <a:pPr lvl="0"/>
            <a:r>
              <a:rPr lang="zh-CN" altLang="en-US" dirty="0" smtClean="0"/>
              <a:t>单击此处编辑母版文本样式</a:t>
            </a:r>
            <a:endParaRPr lang="zh-CN" altLang="en-US" dirty="0" smtClean="0"/>
          </a:p>
          <a:p>
            <a:pPr lvl="1"/>
            <a:r>
              <a:rPr lang="zh-CN" altLang="en-US" dirty="0" smtClean="0"/>
              <a:t>第二级</a:t>
            </a:r>
            <a:endParaRPr lang="zh-CN" altLang="en-US" dirty="0" smtClean="0"/>
          </a:p>
          <a:p>
            <a:pPr lvl="2"/>
            <a:r>
              <a:rPr lang="zh-CN" altLang="en-US" dirty="0" smtClean="0"/>
              <a:t>第三级</a:t>
            </a:r>
            <a:endParaRPr lang="zh-CN" altLang="en-US" dirty="0" smtClean="0"/>
          </a:p>
          <a:p>
            <a:pPr lvl="3"/>
            <a:r>
              <a:rPr lang="zh-CN" altLang="en-US" dirty="0" smtClean="0"/>
              <a:t>第四级</a:t>
            </a:r>
            <a:endParaRPr lang="zh-CN" altLang="en-US" dirty="0" smtClean="0"/>
          </a:p>
          <a:p>
            <a:pPr lvl="4"/>
            <a:r>
              <a:rPr lang="zh-CN" altLang="en-US" dirty="0" smtClean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F2F5ED-D19D-4097-92A9-D6092B3D6E68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AAEAA2-D029-4D23-B6D5-DE004B8B3ED2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4" Type="http://schemas.openxmlformats.org/officeDocument/2006/relationships/theme" Target="../theme/theme1.xml"/><Relationship Id="rId13" Type="http://schemas.openxmlformats.org/officeDocument/2006/relationships/tags" Target="../tags/tag2.xml"/><Relationship Id="rId12" Type="http://schemas.openxmlformats.org/officeDocument/2006/relationships/tags" Target="../tags/tag1.xml"/><Relationship Id="rId11" Type="http://schemas.openxmlformats.org/officeDocument/2006/relationships/image" Target="../media/image2.png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1" cstate="print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  <p:custDataLst>
              <p:tags r:id="rId12"/>
            </p:custDataLst>
          </p:nvPr>
        </p:nvSpPr>
        <p:spPr>
          <a:xfrm>
            <a:off x="838200" y="365125"/>
            <a:ext cx="10515600" cy="85407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 smtClean="0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  <p:custDataLst>
              <p:tags r:id="rId13"/>
            </p:custDataLst>
          </p:nvPr>
        </p:nvSpPr>
        <p:spPr>
          <a:xfrm>
            <a:off x="838200" y="1502229"/>
            <a:ext cx="10515600" cy="346601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dirty="0" smtClean="0"/>
              <a:t>单击此处编辑母版文本样式</a:t>
            </a:r>
            <a:endParaRPr lang="zh-CN" altLang="en-US" dirty="0" smtClean="0"/>
          </a:p>
          <a:p>
            <a:pPr lvl="1"/>
            <a:r>
              <a:rPr lang="zh-CN" altLang="en-US" dirty="0" smtClean="0"/>
              <a:t>第二级</a:t>
            </a:r>
            <a:endParaRPr lang="zh-CN" altLang="en-US" dirty="0" smtClean="0"/>
          </a:p>
          <a:p>
            <a:pPr lvl="2"/>
            <a:r>
              <a:rPr lang="zh-CN" altLang="en-US" dirty="0" smtClean="0"/>
              <a:t>第三级</a:t>
            </a:r>
            <a:endParaRPr lang="zh-CN" altLang="en-US" dirty="0" smtClean="0"/>
          </a:p>
          <a:p>
            <a:pPr lvl="3"/>
            <a:r>
              <a:rPr lang="zh-CN" altLang="en-US" dirty="0" smtClean="0"/>
              <a:t>第四级</a:t>
            </a:r>
            <a:endParaRPr lang="zh-CN" altLang="en-US" dirty="0" smtClean="0"/>
          </a:p>
          <a:p>
            <a:pPr lvl="4"/>
            <a:r>
              <a:rPr lang="zh-CN" altLang="en-US" dirty="0" smtClean="0"/>
              <a:t>第五级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58CBE0A-6AF3-4DB5-863D-349F94148999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3ADA3DE-FABF-4925-BE42-A002C40F88EB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200" b="1" kern="1200">
          <a:solidFill>
            <a:schemeClr val="accent1"/>
          </a:solidFill>
          <a:latin typeface="黑体" panose="02010609060101010101" pitchFamily="49" charset="-122"/>
          <a:ea typeface="黑体" panose="02010609060101010101" pitchFamily="49" charset="-122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Clr>
          <a:schemeClr val="accent1"/>
        </a:buClr>
        <a:buSzPct val="80000"/>
        <a:buFont typeface="Wingdings 2" pitchFamily="18" charset="2"/>
        <a:buChar char=""/>
        <a:defRPr sz="2800" kern="1200">
          <a:solidFill>
            <a:schemeClr val="accent1">
              <a:lumMod val="75000"/>
            </a:schemeClr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accent1">
              <a:lumMod val="75000"/>
            </a:schemeClr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accent1">
              <a:lumMod val="75000"/>
            </a:schemeClr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accent1">
              <a:lumMod val="75000"/>
            </a:schemeClr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accent1">
              <a:lumMod val="75000"/>
            </a:schemeClr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tags" Target="../tags/tag4.xml"/><Relationship Id="rId1" Type="http://schemas.openxmlformats.org/officeDocument/2006/relationships/tags" Target="../tags/tag3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3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4.png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6.png"/><Relationship Id="rId1" Type="http://schemas.openxmlformats.org/officeDocument/2006/relationships/image" Target="../media/image5.png"/></Relationships>
</file>

<file path=ppt/slides/_rels/slide9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2.xml"/><Relationship Id="rId4" Type="http://schemas.openxmlformats.org/officeDocument/2006/relationships/image" Target="../media/image10.png"/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image" Target="../media/image7.png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3"/>
          <p:cNvSpPr>
            <a:spLocks noGrp="1"/>
          </p:cNvSpPr>
          <p:nvPr>
            <p:ph type="ctrTitle"/>
            <p:custDataLst>
              <p:tags r:id="rId1"/>
            </p:custDataLst>
          </p:nvPr>
        </p:nvSpPr>
        <p:spPr>
          <a:xfrm>
            <a:off x="4418330" y="2172335"/>
            <a:ext cx="7705725" cy="1179195"/>
          </a:xfrm>
        </p:spPr>
        <p:txBody>
          <a:bodyPr>
            <a:normAutofit/>
          </a:bodyPr>
          <a:lstStyle/>
          <a:p>
            <a:r>
              <a:rPr lang="zh-CN" altLang="en-US" dirty="0">
                <a:solidFill>
                  <a:srgbClr val="92D050"/>
                </a:solidFill>
                <a:latin typeface="+mj-lt"/>
                <a:ea typeface="+mj-ea"/>
              </a:rPr>
              <a:t>数码管显示实验</a:t>
            </a:r>
            <a:endParaRPr lang="zh-CN" altLang="en-US" dirty="0">
              <a:solidFill>
                <a:srgbClr val="92D050"/>
              </a:solidFill>
              <a:latin typeface="+mj-lt"/>
              <a:ea typeface="+mj-ea"/>
            </a:endParaRPr>
          </a:p>
        </p:txBody>
      </p:sp>
    </p:spTree>
    <p:custDataLst>
      <p:tags r:id="rId2"/>
    </p:custData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zh-CN"/>
              <a:t>本讲主要内容</a:t>
            </a:r>
            <a:endParaRPr lang="zh-CN" altLang="zh-CN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altLang="zh-CN" b="1" dirty="0"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1.</a:t>
            </a:r>
            <a:r>
              <a:rPr lang="zh-CN" altLang="en-US" b="1" dirty="0"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数码管介绍</a:t>
            </a:r>
            <a:endParaRPr lang="zh-CN" altLang="en-US" b="1" dirty="0">
              <a:latin typeface="宋体" panose="02010600030101010101" pitchFamily="2" charset="-122"/>
              <a:ea typeface="宋体" panose="02010600030101010101" pitchFamily="2" charset="-122"/>
              <a:sym typeface="+mn-ea"/>
            </a:endParaRPr>
          </a:p>
          <a:p>
            <a:pPr marL="0" indent="0">
              <a:buNone/>
            </a:pPr>
            <a:r>
              <a:rPr lang="en-US" altLang="zh-CN" b="1" dirty="0"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2.</a:t>
            </a:r>
            <a:r>
              <a:rPr lang="zh-CN" altLang="en-US" b="1" dirty="0"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74HC164芯片介绍</a:t>
            </a:r>
            <a:endParaRPr lang="zh-CN" altLang="en-US" b="1" dirty="0">
              <a:latin typeface="宋体" panose="02010600030101010101" pitchFamily="2" charset="-122"/>
              <a:ea typeface="宋体" panose="02010600030101010101" pitchFamily="2" charset="-122"/>
              <a:sym typeface="+mn-ea"/>
            </a:endParaRPr>
          </a:p>
          <a:p>
            <a:pPr marL="0" indent="0">
              <a:buNone/>
            </a:pPr>
            <a:r>
              <a:rPr lang="en-US" altLang="zh-CN" b="1" dirty="0"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3.</a:t>
            </a:r>
            <a:r>
              <a:rPr lang="zh-CN" altLang="en-US" b="1" dirty="0"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硬件设计</a:t>
            </a:r>
            <a:endParaRPr lang="zh-CN" altLang="en-US" b="1" dirty="0">
              <a:latin typeface="宋体" panose="02010600030101010101" pitchFamily="2" charset="-122"/>
              <a:ea typeface="宋体" panose="02010600030101010101" pitchFamily="2" charset="-122"/>
              <a:sym typeface="+mn-ea"/>
            </a:endParaRPr>
          </a:p>
          <a:p>
            <a:pPr marL="0" indent="0">
              <a:buNone/>
            </a:pPr>
            <a:r>
              <a:rPr lang="en-US" altLang="zh-CN" b="1" dirty="0"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4.</a:t>
            </a:r>
            <a:r>
              <a:rPr lang="zh-CN" altLang="en-US" b="1" dirty="0"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软件设计</a:t>
            </a:r>
            <a:endParaRPr lang="zh-CN" altLang="en-US" b="1" dirty="0">
              <a:latin typeface="宋体" panose="02010600030101010101" pitchFamily="2" charset="-122"/>
              <a:ea typeface="宋体" panose="02010600030101010101" pitchFamily="2" charset="-122"/>
              <a:sym typeface="+mn-ea"/>
            </a:endParaRPr>
          </a:p>
          <a:p>
            <a:pPr marL="0" indent="0">
              <a:buNone/>
            </a:pPr>
            <a:endParaRPr lang="zh-CN" altLang="en-US" b="1" dirty="0">
              <a:latin typeface="宋体" panose="02010600030101010101" pitchFamily="2" charset="-122"/>
              <a:ea typeface="宋体" panose="02010600030101010101" pitchFamily="2" charset="-122"/>
              <a:sym typeface="+mn-ea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562610"/>
          </a:xfrm>
        </p:spPr>
        <p:txBody>
          <a:bodyPr>
            <a:normAutofit/>
          </a:bodyPr>
          <a:lstStyle/>
          <a:p>
            <a:r>
              <a:rPr lang="en-US" altLang="zh-CN" dirty="0"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1.</a:t>
            </a:r>
            <a:r>
              <a:rPr lang="zh-CN" altLang="en-US" dirty="0"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数码管介绍</a:t>
            </a:r>
            <a:endParaRPr lang="zh-CN" altLang="en-US" dirty="0"/>
          </a:p>
        </p:txBody>
      </p:sp>
      <p:sp>
        <p:nvSpPr>
          <p:cNvPr id="5" name="内容占位符 4"/>
          <p:cNvSpPr>
            <a:spLocks noGrp="1"/>
          </p:cNvSpPr>
          <p:nvPr>
            <p:ph idx="1"/>
          </p:nvPr>
        </p:nvSpPr>
        <p:spPr>
          <a:xfrm>
            <a:off x="838200" y="1475105"/>
            <a:ext cx="10515600" cy="4883785"/>
          </a:xfrm>
        </p:spPr>
        <p:txBody>
          <a:bodyPr>
            <a:normAutofit lnSpcReduction="10000"/>
          </a:bodyPr>
          <a:p>
            <a:pPr marL="0" indent="0">
              <a:buNone/>
            </a:pPr>
            <a:r>
              <a:rPr lang="en-US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   </a:t>
            </a:r>
            <a:r>
              <a:rPr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数码管是一种半导体发光器件，其基本单元是发光二极管。 数码管也称 LED数码管，不同行业人士对数码管的称呼不一样，其实都是同样的产品。数码管按段数可分为七段数码管和八段数码管，八段数码管比七段数码管多一个发光二极管单元，也就是多一个小数点（DP），这个小数点可以更精确的表示数码管想要显示的内容；按能显示多少个（8）可分为 1 位、 2 位、 3 位、 4 位、 5 位、 6 位、7 位等数码管。按发光二极管单元连接方式可分为共阳极数码管和共阴极数码管。</a:t>
            </a:r>
            <a:endParaRPr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 marL="0" indent="0">
              <a:buNone/>
            </a:pPr>
            <a:r>
              <a:rPr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 </a:t>
            </a:r>
            <a:endParaRPr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3" name="标题 1"/>
          <p:cNvSpPr>
            <a:spLocks noGrp="1"/>
          </p:cNvSpPr>
          <p:nvPr/>
        </p:nvSpPr>
        <p:spPr>
          <a:xfrm>
            <a:off x="838200" y="912495"/>
            <a:ext cx="10515600" cy="56197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200" b="1" kern="1200">
                <a:solidFill>
                  <a:schemeClr val="accent1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j-cs"/>
              </a:defRPr>
            </a:lvl1pPr>
          </a:lstStyle>
          <a:p>
            <a:r>
              <a:rPr lang="en-US" altLang="zh-CN" sz="2800" dirty="0"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1.1 </a:t>
            </a:r>
            <a:r>
              <a:rPr lang="zh-CN" altLang="en-US" sz="2800" dirty="0"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数码管简介</a:t>
            </a:r>
            <a:endParaRPr lang="zh-CN" altLang="en-US" sz="2800" dirty="0">
              <a:latin typeface="宋体" panose="02010600030101010101" pitchFamily="2" charset="-122"/>
              <a:ea typeface="宋体" panose="02010600030101010101" pitchFamily="2" charset="-122"/>
              <a:sym typeface="+mn-ea"/>
            </a:endParaRPr>
          </a:p>
        </p:txBody>
      </p:sp>
      <p:pic>
        <p:nvPicPr>
          <p:cNvPr id="5125" name="图片 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418715" y="4306570"/>
            <a:ext cx="7020560" cy="2119630"/>
          </a:xfrm>
          <a:prstGeom prst="rect">
            <a:avLst/>
          </a:prstGeom>
          <a:noFill/>
          <a:ln w="9525">
            <a:noFill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内容占位符 4"/>
          <p:cNvSpPr>
            <a:spLocks noGrp="1"/>
          </p:cNvSpPr>
          <p:nvPr>
            <p:ph idx="1"/>
          </p:nvPr>
        </p:nvSpPr>
        <p:spPr>
          <a:xfrm>
            <a:off x="838200" y="1475105"/>
            <a:ext cx="10515600" cy="4883785"/>
          </a:xfrm>
        </p:spPr>
        <p:txBody>
          <a:bodyPr>
            <a:normAutofit lnSpcReduction="10000"/>
          </a:bodyPr>
          <a:p>
            <a:pPr marL="0" indent="0">
              <a:buNone/>
            </a:pPr>
            <a:r>
              <a:rPr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数码管内部电路如下图所示：</a:t>
            </a:r>
            <a:endParaRPr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 marL="0" indent="0">
              <a:buNone/>
            </a:pPr>
            <a:endParaRPr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pic>
        <p:nvPicPr>
          <p:cNvPr id="6" name="图片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433320" y="2011680"/>
            <a:ext cx="6853555" cy="4347210"/>
          </a:xfrm>
          <a:prstGeom prst="rect">
            <a:avLst/>
          </a:prstGeom>
          <a:noFill/>
          <a:ln w="9525">
            <a:noFill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内容占位符 4"/>
          <p:cNvSpPr>
            <a:spLocks noGrp="1"/>
          </p:cNvSpPr>
          <p:nvPr>
            <p:ph idx="1"/>
          </p:nvPr>
        </p:nvSpPr>
        <p:spPr>
          <a:xfrm>
            <a:off x="838200" y="1475105"/>
            <a:ext cx="10515600" cy="4883785"/>
          </a:xfrm>
        </p:spPr>
        <p:txBody>
          <a:bodyPr>
            <a:normAutofit fontScale="50000"/>
          </a:bodyPr>
          <a:p>
            <a:pPr marL="0" indent="0">
              <a:buNone/>
            </a:pPr>
            <a:r>
              <a:rPr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共阴和共阳数码管的0-F段码数据表，如下所示：</a:t>
            </a:r>
            <a:endParaRPr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 marL="0" indent="0">
              <a:buNone/>
            </a:pPr>
            <a:r>
              <a:rPr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①共阴数码管码表</a:t>
            </a:r>
            <a:endParaRPr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 marL="0" indent="0">
              <a:buNone/>
            </a:pPr>
            <a:r>
              <a:rPr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0x3f, 0x06, 0x5b, 0x4f, 0x66, 0x6d,</a:t>
            </a:r>
            <a:endParaRPr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 marL="0" indent="0">
              <a:buNone/>
            </a:pPr>
            <a:r>
              <a:rPr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 0	   1	   2	   3     4     5</a:t>
            </a:r>
            <a:endParaRPr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 marL="0" indent="0">
              <a:buNone/>
            </a:pPr>
            <a:r>
              <a:rPr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0x7d, 0x07, 0x7f, 0x6f, 0x77, 0x7c, </a:t>
            </a:r>
            <a:endParaRPr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 marL="0" indent="0">
              <a:buNone/>
            </a:pPr>
            <a:r>
              <a:rPr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 6	   7	   8	   9     A     B</a:t>
            </a:r>
            <a:endParaRPr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 marL="0" indent="0">
              <a:buNone/>
            </a:pPr>
            <a:r>
              <a:rPr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0x39, 0x5e, 0x79, 0x71, 0x00,</a:t>
            </a:r>
            <a:endParaRPr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 marL="0" indent="0">
              <a:buNone/>
            </a:pPr>
            <a:r>
              <a:rPr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 C     D     E     F	  无显示</a:t>
            </a:r>
            <a:endParaRPr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 marL="0" indent="0">
              <a:buNone/>
            </a:pPr>
            <a:r>
              <a:rPr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②共阳数码管码表</a:t>
            </a:r>
            <a:endParaRPr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 marL="0" indent="0">
              <a:buNone/>
            </a:pPr>
            <a:r>
              <a:rPr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0xC0, 0xF9, 0xA4, 0xB0, 0x99, 0x92, </a:t>
            </a:r>
            <a:endParaRPr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 marL="0" indent="0">
              <a:buNone/>
            </a:pPr>
            <a:r>
              <a:rPr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 0	   1	   2	   3     4     5</a:t>
            </a:r>
            <a:endParaRPr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 marL="0" indent="0">
              <a:buNone/>
            </a:pPr>
            <a:r>
              <a:rPr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0x82, 0xF8, 0x80, 0x90, 0x88, 0x83, </a:t>
            </a:r>
            <a:endParaRPr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 marL="0" indent="0">
              <a:buNone/>
            </a:pPr>
            <a:r>
              <a:rPr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 6	   7	   8	   9     A     B</a:t>
            </a:r>
            <a:endParaRPr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 marL="0" indent="0">
              <a:buNone/>
            </a:pPr>
            <a:r>
              <a:rPr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0xC6, 0xA1, 0x86, 0x8E, 0xFF,</a:t>
            </a:r>
            <a:endParaRPr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 marL="0" indent="0">
              <a:buNone/>
            </a:pPr>
            <a:r>
              <a:rPr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 C     D     E     F	  无显示</a:t>
            </a:r>
            <a:endParaRPr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 marL="0" indent="0">
              <a:buNone/>
            </a:pPr>
            <a:endParaRPr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内容占位符 4"/>
          <p:cNvSpPr>
            <a:spLocks noGrp="1"/>
          </p:cNvSpPr>
          <p:nvPr>
            <p:ph idx="1"/>
          </p:nvPr>
        </p:nvSpPr>
        <p:spPr>
          <a:xfrm>
            <a:off x="838200" y="1475105"/>
            <a:ext cx="10515600" cy="4883785"/>
          </a:xfrm>
        </p:spPr>
        <p:txBody>
          <a:bodyPr>
            <a:normAutofit fontScale="90000" lnSpcReduction="10000"/>
          </a:bodyPr>
          <a:p>
            <a:pPr marL="0" indent="0">
              <a:buNone/>
            </a:pPr>
            <a:r>
              <a:rPr lang="en-US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   </a:t>
            </a:r>
            <a:r>
              <a:rPr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LED数码管显示器工作方式有两种：静态显示方式和动态显示方式。</a:t>
            </a:r>
            <a:endParaRPr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 marL="0" indent="0" fontAlgn="auto">
              <a:lnSpc>
                <a:spcPct val="100000"/>
              </a:lnSpc>
              <a:buNone/>
            </a:pPr>
            <a:r>
              <a:rPr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   静态显示的特点是每个数码管的段选必须接一个8位数据线来保持显示的字形码。当送入一次字形码后，显示字形可一直保持，直到送入新字形码为止。这种方法的优点是占用CPU时间少，显示便于监测和控制。缺点是硬件电路比较复杂，成本较高，比如使用4个静态数码管，那么就得32个IO来控制，这显然是不适合实际开发的，正因为如此才会有后面的动态数码显示的讲解。</a:t>
            </a:r>
            <a:endParaRPr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 marL="0" indent="0" fontAlgn="auto">
              <a:lnSpc>
                <a:spcPct val="100000"/>
              </a:lnSpc>
              <a:buNone/>
            </a:pPr>
            <a:r>
              <a:rPr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   动态显示的特点是将所有数码管的段选线并联在一起，由位选线控制是哪一位数码管有效。选亮数码管采用动态扫描显示。所谓动态扫描显示即轮流向各位数码管送出字形码和相应的位选，利用发光管的余辉和人眼视觉暂留作用，使人的感觉好像各位数码管同时都在显示。动态显示的亮度比静态显示要差一些，所以在选择限流电阻时应略小于静态显示电路中的。</a:t>
            </a:r>
            <a:endParaRPr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3" name="标题 1"/>
          <p:cNvSpPr>
            <a:spLocks noGrp="1"/>
          </p:cNvSpPr>
          <p:nvPr/>
        </p:nvSpPr>
        <p:spPr>
          <a:xfrm>
            <a:off x="838200" y="913130"/>
            <a:ext cx="10515600" cy="56197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200" b="1" kern="1200">
                <a:solidFill>
                  <a:schemeClr val="accent1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j-cs"/>
              </a:defRPr>
            </a:lvl1pPr>
          </a:lstStyle>
          <a:p>
            <a:r>
              <a:rPr lang="en-US" altLang="zh-CN" sz="2800" dirty="0"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1.2 </a:t>
            </a:r>
            <a:r>
              <a:rPr lang="zh-CN" altLang="en-US" sz="2800" dirty="0"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数码管动态显示原理</a:t>
            </a:r>
            <a:endParaRPr lang="zh-CN" altLang="en-US" sz="2800" dirty="0">
              <a:latin typeface="宋体" panose="02010600030101010101" pitchFamily="2" charset="-122"/>
              <a:ea typeface="宋体" panose="02010600030101010101" pitchFamily="2" charset="-122"/>
              <a:sym typeface="+mn-ea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562610"/>
          </a:xfrm>
        </p:spPr>
        <p:txBody>
          <a:bodyPr>
            <a:normAutofit/>
          </a:bodyPr>
          <a:lstStyle/>
          <a:p>
            <a:r>
              <a:rPr lang="en-US" altLang="zh-CN" dirty="0"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2.</a:t>
            </a:r>
            <a:r>
              <a:rPr lang="zh-CN" altLang="en-US" dirty="0"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74HC164芯片介绍</a:t>
            </a:r>
            <a:endParaRPr lang="zh-CN" altLang="en-US" dirty="0">
              <a:latin typeface="宋体" panose="02010600030101010101" pitchFamily="2" charset="-122"/>
              <a:ea typeface="宋体" panose="02010600030101010101" pitchFamily="2" charset="-122"/>
              <a:sym typeface="+mn-ea"/>
            </a:endParaRPr>
          </a:p>
        </p:txBody>
      </p:sp>
      <p:sp>
        <p:nvSpPr>
          <p:cNvPr id="5" name="内容占位符 4"/>
          <p:cNvSpPr>
            <a:spLocks noGrp="1"/>
          </p:cNvSpPr>
          <p:nvPr>
            <p:ph idx="1"/>
          </p:nvPr>
        </p:nvSpPr>
        <p:spPr>
          <a:xfrm>
            <a:off x="838200" y="1475105"/>
            <a:ext cx="10515600" cy="4883785"/>
          </a:xfrm>
        </p:spPr>
        <p:txBody>
          <a:bodyPr>
            <a:normAutofit lnSpcReduction="10000"/>
          </a:bodyPr>
          <a:p>
            <a:pPr marL="0" indent="0" fontAlgn="auto">
              <a:lnSpc>
                <a:spcPct val="100000"/>
              </a:lnSpc>
              <a:buNone/>
            </a:pPr>
            <a:r>
              <a:rPr lang="en-US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   74HC164是高速硅门CMOS器件，与TTL器件的引脚兼容。74HC164是8位边沿触发式移位寄存器，串行输入数据，然后并行输出。数据通过两个输入端（DSA或DSB）之一串行输入；任一输入端可以用作高电平使能端，控制另一输入端的数据输入。两个输入端或者连接在一起，或者把不用的输入端接高电平，一定不要悬空。时钟（CP）每次由低变高时，数据右移一位，输入到Q0，Q0是两个数据输入端（DSA或DSB）的逻辑与，它将上升时钟沿之前保持一个建立时间的长度。</a:t>
            </a:r>
            <a:endParaRPr lang="en-US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 marL="0" indent="0" fontAlgn="auto">
              <a:lnSpc>
                <a:spcPct val="100000"/>
              </a:lnSpc>
              <a:buNone/>
            </a:pPr>
            <a:r>
              <a:rPr lang="en-US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  （1）主要特性</a:t>
            </a:r>
            <a:endParaRPr lang="en-US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 marL="0" indent="0" fontAlgn="auto">
              <a:lnSpc>
                <a:spcPct val="100000"/>
              </a:lnSpc>
              <a:buNone/>
            </a:pPr>
            <a:r>
              <a:rPr lang="en-US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①工作电压范围：2.0V-6.0V</a:t>
            </a:r>
            <a:endParaRPr lang="en-US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 marL="0" indent="0" fontAlgn="auto">
              <a:lnSpc>
                <a:spcPct val="100000"/>
              </a:lnSpc>
              <a:buNone/>
            </a:pPr>
            <a:r>
              <a:rPr lang="en-US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②封装形式：SOP14、DIP14</a:t>
            </a:r>
            <a:endParaRPr lang="en-US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 marL="0" indent="0">
              <a:buNone/>
            </a:pPr>
            <a:endParaRPr lang="en-US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内容占位符 4"/>
          <p:cNvSpPr>
            <a:spLocks noGrp="1"/>
          </p:cNvSpPr>
          <p:nvPr>
            <p:ph idx="1"/>
          </p:nvPr>
        </p:nvSpPr>
        <p:spPr>
          <a:xfrm>
            <a:off x="615315" y="348615"/>
            <a:ext cx="10237470" cy="5870575"/>
          </a:xfrm>
        </p:spPr>
        <p:txBody>
          <a:bodyPr>
            <a:normAutofit/>
          </a:bodyPr>
          <a:p>
            <a:pPr marL="0" indent="0">
              <a:buNone/>
            </a:pPr>
            <a:r>
              <a:rPr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（2）管脚功能定义</a:t>
            </a:r>
            <a:endParaRPr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pic>
        <p:nvPicPr>
          <p:cNvPr id="2" name="图片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463415" y="939800"/>
            <a:ext cx="2541270" cy="1870710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3" name="图片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68425" y="2935605"/>
            <a:ext cx="9484360" cy="3634105"/>
          </a:xfrm>
          <a:prstGeom prst="rect">
            <a:avLst/>
          </a:prstGeom>
          <a:noFill/>
          <a:ln w="9525">
            <a:noFill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562610"/>
          </a:xfrm>
        </p:spPr>
        <p:txBody>
          <a:bodyPr>
            <a:normAutofit/>
          </a:bodyPr>
          <a:lstStyle/>
          <a:p>
            <a:r>
              <a:rPr lang="en-US" altLang="zh-CN" dirty="0"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3.</a:t>
            </a:r>
            <a:r>
              <a:rPr lang="zh-CN" altLang="en-US" dirty="0"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硬件设计</a:t>
            </a:r>
            <a:endParaRPr lang="zh-CN" altLang="en-US" dirty="0"/>
          </a:p>
        </p:txBody>
      </p:sp>
      <p:sp>
        <p:nvSpPr>
          <p:cNvPr id="5" name="内容占位符 4"/>
          <p:cNvSpPr>
            <a:spLocks noGrp="1"/>
          </p:cNvSpPr>
          <p:nvPr>
            <p:ph idx="1"/>
          </p:nvPr>
        </p:nvSpPr>
        <p:spPr>
          <a:xfrm>
            <a:off x="838200" y="1475105"/>
            <a:ext cx="10515600" cy="4883785"/>
          </a:xfrm>
        </p:spPr>
        <p:txBody>
          <a:bodyPr>
            <a:normAutofit lnSpcReduction="10000"/>
          </a:bodyPr>
          <a:p>
            <a:pPr marL="0" indent="0">
              <a:buNone/>
            </a:pPr>
            <a:r>
              <a:rPr lang="en-US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   </a:t>
            </a:r>
            <a:r>
              <a:rPr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本实验使用到硬件资源如下：</a:t>
            </a:r>
            <a:endParaRPr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 marL="0" indent="0">
              <a:buNone/>
            </a:pPr>
            <a:r>
              <a:rPr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（1）D1指示灯</a:t>
            </a:r>
            <a:endParaRPr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 marL="0" indent="0">
              <a:buNone/>
            </a:pPr>
            <a:r>
              <a:rPr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（2）数码管显示模块</a:t>
            </a:r>
            <a:endParaRPr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pic>
        <p:nvPicPr>
          <p:cNvPr id="7" name="图片 6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191885" y="365125"/>
            <a:ext cx="5161280" cy="2009140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6" name="图片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91885" y="2374265"/>
            <a:ext cx="5161915" cy="4028440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8" name="图片 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8200" y="3299460"/>
            <a:ext cx="5099685" cy="810260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9" name="图片 8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38200" y="4385945"/>
            <a:ext cx="5100320" cy="1370330"/>
          </a:xfrm>
          <a:prstGeom prst="rect">
            <a:avLst/>
          </a:prstGeom>
          <a:noFill/>
          <a:ln w="9525">
            <a:noFill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562610"/>
          </a:xfrm>
        </p:spPr>
        <p:txBody>
          <a:bodyPr>
            <a:normAutofit/>
          </a:bodyPr>
          <a:lstStyle/>
          <a:p>
            <a:r>
              <a:rPr lang="en-US" altLang="zh-CN" dirty="0"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4.</a:t>
            </a:r>
            <a:r>
              <a:rPr lang="zh-CN" altLang="en-US" dirty="0"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软件设计</a:t>
            </a:r>
            <a:endParaRPr lang="zh-CN" altLang="en-US" dirty="0"/>
          </a:p>
        </p:txBody>
      </p:sp>
      <p:sp>
        <p:nvSpPr>
          <p:cNvPr id="5" name="内容占位符 4"/>
          <p:cNvSpPr>
            <a:spLocks noGrp="1"/>
          </p:cNvSpPr>
          <p:nvPr>
            <p:ph idx="1"/>
          </p:nvPr>
        </p:nvSpPr>
        <p:spPr>
          <a:xfrm>
            <a:off x="838200" y="1475105"/>
            <a:ext cx="10515600" cy="4883785"/>
          </a:xfrm>
        </p:spPr>
        <p:txBody>
          <a:bodyPr>
            <a:normAutofit lnSpcReduction="10000"/>
          </a:bodyPr>
          <a:p>
            <a:pPr marL="0" indent="0">
              <a:buNone/>
            </a:pPr>
            <a:r>
              <a:rPr lang="en-US" altLang="zh-CN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   </a:t>
            </a:r>
            <a:r>
              <a:rPr lang="zh-CN" altLang="en-US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本章所要实现的功能是：将数据显示在数码管上，同时控制D1指示灯闪烁，指示系统运行状态。程序框架如下：</a:t>
            </a:r>
            <a:endParaRPr lang="zh-CN" altLang="en-US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 marL="0" indent="0">
              <a:buNone/>
            </a:pPr>
            <a:r>
              <a:rPr lang="zh-CN" altLang="en-US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（1）数码管初始化函数</a:t>
            </a:r>
            <a:endParaRPr lang="zh-CN" altLang="en-US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 marL="0" indent="0">
              <a:buNone/>
            </a:pPr>
            <a:r>
              <a:rPr lang="zh-CN" altLang="en-US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（2）编写数码管显示函数</a:t>
            </a:r>
            <a:endParaRPr lang="zh-CN" altLang="en-US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 marL="0" indent="0">
              <a:buNone/>
            </a:pPr>
            <a:r>
              <a:rPr lang="zh-CN" altLang="en-US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（3）编写主函数</a:t>
            </a:r>
            <a:endParaRPr lang="zh-CN" altLang="en-US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 marL="0" indent="0">
              <a:buNone/>
            </a:pPr>
            <a:endParaRPr lang="zh-CN" altLang="en-US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ags/tag1.xml><?xml version="1.0" encoding="utf-8"?>
<p:tagLst xmlns:p="http://schemas.openxmlformats.org/presentationml/2006/main">
  <p:tag name="KSO_WM_TAG_VERSION" val="1.0"/>
  <p:tag name="KSO_WM_TEMPLATE_CATEGORY" val="custom"/>
  <p:tag name="KSO_WM_TEMPLATE_INDEX" val="160428"/>
</p:tagLst>
</file>

<file path=ppt/tags/tag2.xml><?xml version="1.0" encoding="utf-8"?>
<p:tagLst xmlns:p="http://schemas.openxmlformats.org/presentationml/2006/main">
  <p:tag name="KSO_WM_TAG_VERSION" val="1.0"/>
  <p:tag name="KSO_WM_TEMPLATE_CATEGORY" val="custom"/>
  <p:tag name="KSO_WM_TEMPLATE_INDEX" val="160428"/>
</p:tagLst>
</file>

<file path=ppt/tags/tag3.xml><?xml version="1.0" encoding="utf-8"?>
<p:tagLst xmlns:p="http://schemas.openxmlformats.org/presentationml/2006/main">
  <p:tag name="KSO_WM_TAG_VERSION" val="1.0"/>
  <p:tag name="KSO_WM_BEAUTIFY_FLAG" val="#wm#"/>
  <p:tag name="KSO_WM_TEMPLATE_CATEGORY" val="custom"/>
  <p:tag name="KSO_WM_TEMPLATE_INDEX" val="160428"/>
  <p:tag name="KSO_WM_UNIT_TYPE" val="a"/>
  <p:tag name="KSO_WM_UNIT_INDEX" val="1"/>
  <p:tag name="KSO_WM_UNIT_ID" val="custom160428_1*a*1"/>
  <p:tag name="KSO_WM_UNIT_CLEAR" val="1"/>
  <p:tag name="KSO_WM_UNIT_LAYERLEVEL" val="1"/>
  <p:tag name="KSO_WM_UNIT_VALUE" val="26"/>
  <p:tag name="KSO_WM_UNIT_ISCONTENTSTITLE" val="0"/>
  <p:tag name="KSO_WM_UNIT_HIGHLIGHT" val="0"/>
  <p:tag name="KSO_WM_UNIT_COMPATIBLE" val="0"/>
  <p:tag name="KSO_WM_UNIT_PRESET_TEXT_INDEX" val="3"/>
  <p:tag name="KSO_WM_UNIT_PRESET_TEXT_LEN" val="17"/>
</p:tagLst>
</file>

<file path=ppt/tags/tag4.xml><?xml version="1.0" encoding="utf-8"?>
<p:tagLst xmlns:p="http://schemas.openxmlformats.org/presentationml/2006/main">
  <p:tag name="KSO_WM_TEMPLATE_THUMBS_INDEX" val="1、9、12、16、20、26、28、29"/>
  <p:tag name="KSO_WM_TEMPLATE_CATEGORY" val="custom"/>
  <p:tag name="KSO_WM_TEMPLATE_INDEX" val="160428"/>
  <p:tag name="KSO_WM_TAG_VERSION" val="1.0"/>
  <p:tag name="KSO_WM_SLIDE_ID" val="custom160428_1"/>
  <p:tag name="KSO_WM_SLIDE_INDEX" val="1"/>
  <p:tag name="KSO_WM_SLIDE_ITEM_CNT" val="2"/>
  <p:tag name="KSO_WM_SLIDE_LAYOUT" val="a_b"/>
  <p:tag name="KSO_WM_SLIDE_LAYOUT_CNT" val="1_1"/>
  <p:tag name="KSO_WM_SLIDE_TYPE" val="title"/>
  <p:tag name="KSO_WM_BEAUTIFY_FLAG" val="#wm#"/>
</p:tagLst>
</file>

<file path=ppt/theme/theme1.xml><?xml version="1.0" encoding="utf-8"?>
<a:theme xmlns:a="http://schemas.openxmlformats.org/drawingml/2006/main" name="1_A000120140530A99PPBG">
  <a:themeElements>
    <a:clrScheme name="141">
      <a:dk1>
        <a:srgbClr val="5F5F5F"/>
      </a:dk1>
      <a:lt1>
        <a:sysClr val="window" lastClr="FFFFFF"/>
      </a:lt1>
      <a:dk2>
        <a:srgbClr val="5F5F5F"/>
      </a:dk2>
      <a:lt2>
        <a:srgbClr val="FFFFFF"/>
      </a:lt2>
      <a:accent1>
        <a:srgbClr val="87A452"/>
      </a:accent1>
      <a:accent2>
        <a:srgbClr val="58B898"/>
      </a:accent2>
      <a:accent3>
        <a:srgbClr val="489698"/>
      </a:accent3>
      <a:accent4>
        <a:srgbClr val="C2C25E"/>
      </a:accent4>
      <a:accent5>
        <a:srgbClr val="C00000"/>
      </a:accent5>
      <a:accent6>
        <a:srgbClr val="FFC000"/>
      </a:accent6>
      <a:hlink>
        <a:srgbClr val="00B0F0"/>
      </a:hlink>
      <a:folHlink>
        <a:srgbClr val="7F7F7F"/>
      </a:folHlink>
    </a:clrScheme>
    <a:fontScheme name="Arial">
      <a:maj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主题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1521</Words>
  <Application>WPS 演示</Application>
  <PresentationFormat>自定义</PresentationFormat>
  <Paragraphs>67</Paragraphs>
  <Slides>10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9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10</vt:i4>
      </vt:variant>
    </vt:vector>
  </HeadingPairs>
  <TitlesOfParts>
    <vt:vector size="20" baseType="lpstr">
      <vt:lpstr>Arial</vt:lpstr>
      <vt:lpstr>宋体</vt:lpstr>
      <vt:lpstr>Wingdings</vt:lpstr>
      <vt:lpstr>黑体</vt:lpstr>
      <vt:lpstr>Wingdings 2</vt:lpstr>
      <vt:lpstr>微软雅黑</vt:lpstr>
      <vt:lpstr>Arial Unicode MS</vt:lpstr>
      <vt:lpstr>Wingdings</vt:lpstr>
      <vt:lpstr>Calibri</vt:lpstr>
      <vt:lpstr>1_A000120140530A99PPBG</vt:lpstr>
      <vt:lpstr>定时器中断实验</vt:lpstr>
      <vt:lpstr>本讲主要内容</vt:lpstr>
      <vt:lpstr>1.定时器介绍</vt:lpstr>
      <vt:lpstr>PowerPoint 演示文稿</vt:lpstr>
      <vt:lpstr>PowerPoint 演示文稿</vt:lpstr>
      <vt:lpstr>1.数码管介绍</vt:lpstr>
      <vt:lpstr>2.定时器配置步骤</vt:lpstr>
      <vt:lpstr>PowerPoint 演示文稿</vt:lpstr>
      <vt:lpstr>3.硬件设计</vt:lpstr>
      <vt:lpstr>4.软件设计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认识和了解开发板功能及其使用</dc:title>
  <dc:creator/>
  <cp:lastModifiedBy>普中科技35</cp:lastModifiedBy>
  <cp:revision>59</cp:revision>
  <dcterms:created xsi:type="dcterms:W3CDTF">2015-05-05T08:02:00Z</dcterms:created>
  <dcterms:modified xsi:type="dcterms:W3CDTF">2018-08-04T08:08:38Z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2052-10.1.0.7400</vt:lpwstr>
  </property>
</Properties>
</file>