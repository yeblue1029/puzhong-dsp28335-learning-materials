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7" r:id="rId3"/>
    <p:sldId id="258" r:id="rId4"/>
    <p:sldId id="259" r:id="rId5"/>
    <p:sldId id="267" r:id="rId6"/>
    <p:sldId id="268" r:id="rId7"/>
    <p:sldId id="269" r:id="rId8"/>
    <p:sldId id="271" r:id="rId9"/>
    <p:sldId id="272" r:id="rId10"/>
    <p:sldId id="273" r:id="rId11"/>
    <p:sldId id="265" r:id="rId12"/>
    <p:sldId id="266" r:id="rId13"/>
    <p:sldId id="274" r:id="rId14"/>
    <p:sldId id="275" r:id="rId15"/>
    <p:sldId id="276" r:id="rId16"/>
    <p:sldId id="277"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02" y="-108"/>
      </p:cViewPr>
      <p:guideLst>
        <p:guide orient="horz" pos="212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04838" y="3186053"/>
            <a:ext cx="6982361" cy="1178920"/>
          </a:xfrm>
        </p:spPr>
        <p:txBody>
          <a:bodyPr anchor="b">
            <a:normAutofit/>
          </a:bodyPr>
          <a:lstStyle>
            <a:lvl1pPr algn="ctr">
              <a:defRPr sz="44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4904838" y="4538211"/>
            <a:ext cx="6982361" cy="469218"/>
          </a:xfrm>
        </p:spPr>
        <p:txBody>
          <a:bodyPr>
            <a:normAutofit/>
          </a:bodyPr>
          <a:lstStyle>
            <a:lvl1pPr marL="0" indent="0" algn="ctr">
              <a:buNone/>
              <a:defRPr sz="18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964874" y="2770413"/>
            <a:ext cx="5065514" cy="637806"/>
          </a:xfrm>
        </p:spPr>
        <p:txBody>
          <a:bodyPr anchor="t" anchorCtr="0">
            <a:normAutofit/>
          </a:bodyPr>
          <a:lstStyle>
            <a:lvl1pPr algn="r">
              <a:defRPr sz="2800" b="0">
                <a:solidFill>
                  <a:schemeClr val="tx2"/>
                </a:solidFill>
                <a:effectLst/>
              </a:defRPr>
            </a:lvl1pPr>
          </a:lstStyle>
          <a:p>
            <a:r>
              <a:rPr lang="zh-CN" altLang="en-US" dirty="0" smtClean="0"/>
              <a:t>此处添加您的标题</a:t>
            </a:r>
            <a:endParaRPr lang="en-US" dirty="0"/>
          </a:p>
        </p:txBody>
      </p:sp>
      <p:sp>
        <p:nvSpPr>
          <p:cNvPr id="3" name="日期占位符 2"/>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458687"/>
            <a:ext cx="5181600" cy="350955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458687"/>
            <a:ext cx="5181600" cy="350955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44563"/>
          </a:xfrm>
        </p:spPr>
        <p:txBody>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839788" y="1437323"/>
            <a:ext cx="5157787" cy="51339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Content Placeholder 3"/>
          <p:cNvSpPr>
            <a:spLocks noGrp="1"/>
          </p:cNvSpPr>
          <p:nvPr>
            <p:ph sz="half" idx="2"/>
          </p:nvPr>
        </p:nvSpPr>
        <p:spPr>
          <a:xfrm>
            <a:off x="839788" y="2063115"/>
            <a:ext cx="5157787" cy="29051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437323"/>
            <a:ext cx="5183188" cy="51339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063115"/>
            <a:ext cx="5183188" cy="29051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08615" y="2002969"/>
            <a:ext cx="4974771" cy="1828800"/>
          </a:xfrm>
        </p:spPr>
        <p:txBody>
          <a:bodyPr>
            <a:noAutofit/>
          </a:bodyPr>
          <a:lstStyle>
            <a:lvl1pPr algn="ctr">
              <a:defRPr sz="7200"/>
            </a:lvl1pPr>
          </a:lstStyle>
          <a:p>
            <a:r>
              <a:rPr lang="zh-CN" altLang="en-US" dirty="0" smtClean="0"/>
              <a:t>编辑标题</a:t>
            </a:r>
            <a:endParaRPr lang="en-US" dirty="0"/>
          </a:p>
        </p:txBody>
      </p:sp>
      <p:sp>
        <p:nvSpPr>
          <p:cNvPr id="3" name="Date Placeholder 2"/>
          <p:cNvSpPr>
            <a:spLocks noGrp="1"/>
          </p:cNvSpPr>
          <p:nvPr>
            <p:ph type="dt" sz="half" idx="10"/>
          </p:nvPr>
        </p:nvSpPr>
        <p:spPr/>
        <p:txBody>
          <a:bodyPr/>
          <a:lstStyle/>
          <a:p>
            <a:fld id="{275B98A9-C20B-4D5B-92DA-1D75B9D715AC}"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49B50B9-7135-4D78-A58F-DF4CD6531EC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078692" y="457200"/>
            <a:ext cx="10034617" cy="718457"/>
          </a:xfrm>
        </p:spPr>
        <p:txBody>
          <a:bodyPr anchor="ctr">
            <a:normAutofit/>
          </a:bodyPr>
          <a:lstStyle>
            <a:lvl1pPr algn="ctr">
              <a:defRPr sz="28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083129" y="1197429"/>
            <a:ext cx="10025743" cy="2917372"/>
          </a:xfrm>
        </p:spPr>
        <p:txBody>
          <a:bodyPr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539240" y="4288973"/>
            <a:ext cx="9569632" cy="1980293"/>
          </a:xfrm>
        </p:spPr>
        <p:txBody>
          <a:bodyPr>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smtClean="0"/>
              <a:t>单击此处编辑母版文本样式</a:t>
            </a:r>
            <a:endParaRPr lang="zh-CN" altLang="en-US" dirty="0" smtClean="0"/>
          </a:p>
        </p:txBody>
      </p:sp>
      <p:sp>
        <p:nvSpPr>
          <p:cNvPr id="5" name="Date Placeholder 4"/>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97886" y="365125"/>
            <a:ext cx="1055914"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458686" y="365125"/>
            <a:ext cx="8665028"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37600" y="408675"/>
            <a:ext cx="105168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2.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838200" y="365125"/>
            <a:ext cx="10515600" cy="854075"/>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custDataLst>
              <p:tags r:id="rId13"/>
            </p:custDataLst>
          </p:nvPr>
        </p:nvSpPr>
        <p:spPr>
          <a:xfrm>
            <a:off x="838200" y="1502229"/>
            <a:ext cx="10515600" cy="3466011"/>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DA3DE-FABF-4925-BE42-A002C40F88E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Clr>
          <a:schemeClr val="accent1"/>
        </a:buClr>
        <a:buSzPct val="80000"/>
        <a:buFont typeface="Wingdings 2" pitchFamily="18" charset="2"/>
        <a:buChar char=""/>
        <a:defRPr sz="2800" kern="1200">
          <a:solidFill>
            <a:schemeClr val="accent1">
              <a:lumMod val="75000"/>
            </a:schemeClr>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75000"/>
            </a:schemeClr>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75000"/>
            </a:schemeClr>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75000"/>
            </a:schemeClr>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75000"/>
            </a:schemeClr>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4418330" y="2172335"/>
            <a:ext cx="7705725" cy="1179195"/>
          </a:xfrm>
        </p:spPr>
        <p:txBody>
          <a:bodyPr>
            <a:normAutofit/>
          </a:bodyPr>
          <a:lstStyle/>
          <a:p>
            <a:r>
              <a:rPr lang="zh-CN" altLang="en-US" dirty="0">
                <a:solidFill>
                  <a:srgbClr val="92D050"/>
                </a:solidFill>
                <a:latin typeface="+mj-lt"/>
                <a:ea typeface="+mj-ea"/>
              </a:rPr>
              <a:t>存储器与寄存器</a:t>
            </a:r>
            <a:endParaRPr lang="zh-CN" altLang="en-US" dirty="0">
              <a:solidFill>
                <a:srgbClr val="92D050"/>
              </a:solidFill>
              <a:latin typeface="+mj-lt"/>
              <a:ea typeface="+mj-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本讲主要内容</a:t>
            </a:r>
            <a:endParaRPr lang="zh-CN" altLang="zh-CN"/>
          </a:p>
        </p:txBody>
      </p:sp>
      <p:sp>
        <p:nvSpPr>
          <p:cNvPr id="3" name="内容占位符 2"/>
          <p:cNvSpPr>
            <a:spLocks noGrp="1"/>
          </p:cNvSpPr>
          <p:nvPr>
            <p:ph idx="1"/>
          </p:nvPr>
        </p:nvSpPr>
        <p:spPr/>
        <p:txBody>
          <a:bodyPr/>
          <a:lstStyle/>
          <a:p>
            <a:pPr marL="0" indent="0">
              <a:buNone/>
            </a:pPr>
            <a:r>
              <a:rPr lang="en-US" altLang="zh-CN" b="1" dirty="0">
                <a:latin typeface="宋体" panose="02010600030101010101" pitchFamily="2" charset="-122"/>
                <a:ea typeface="宋体" panose="02010600030101010101" pitchFamily="2" charset="-122"/>
                <a:sym typeface="+mn-ea"/>
              </a:rPr>
              <a:t>1.</a:t>
            </a:r>
            <a:r>
              <a:rPr lang="zh-CN" altLang="en-US" b="1" dirty="0">
                <a:latin typeface="宋体" panose="02010600030101010101" pitchFamily="2" charset="-122"/>
                <a:ea typeface="宋体" panose="02010600030101010101" pitchFamily="2" charset="-122"/>
                <a:sym typeface="+mn-ea"/>
              </a:rPr>
              <a:t>存储器映射</a:t>
            </a:r>
            <a:endParaRPr lang="zh-CN" altLang="en-US" b="1" dirty="0">
              <a:latin typeface="宋体" panose="02010600030101010101" pitchFamily="2" charset="-122"/>
              <a:ea typeface="宋体" panose="02010600030101010101" pitchFamily="2" charset="-122"/>
              <a:sym typeface="+mn-ea"/>
            </a:endParaRPr>
          </a:p>
          <a:p>
            <a:pPr marL="0" indent="0">
              <a:buNone/>
            </a:pPr>
            <a:r>
              <a:rPr lang="en-US" altLang="zh-CN" b="1" dirty="0">
                <a:latin typeface="宋体" panose="02010600030101010101" pitchFamily="2" charset="-122"/>
                <a:ea typeface="宋体" panose="02010600030101010101" pitchFamily="2" charset="-122"/>
                <a:sym typeface="+mn-ea"/>
              </a:rPr>
              <a:t>2.</a:t>
            </a:r>
            <a:r>
              <a:rPr lang="zh-CN" altLang="en-US" b="1" dirty="0">
                <a:latin typeface="宋体" panose="02010600030101010101" pitchFamily="2" charset="-122"/>
                <a:ea typeface="宋体" panose="02010600030101010101" pitchFamily="2" charset="-122"/>
                <a:sym typeface="+mn-ea"/>
              </a:rPr>
              <a:t>什么是寄存器和寄存器映射</a:t>
            </a:r>
            <a:endParaRPr lang="zh-CN" altLang="en-US" b="1" dirty="0">
              <a:latin typeface="宋体" panose="02010600030101010101" pitchFamily="2" charset="-122"/>
              <a:ea typeface="宋体" panose="02010600030101010101" pitchFamily="2" charset="-122"/>
              <a:sym typeface="+mn-ea"/>
            </a:endParaRPr>
          </a:p>
          <a:p>
            <a:pPr marL="0" indent="0">
              <a:buNone/>
            </a:pPr>
            <a:r>
              <a:rPr lang="en-US" altLang="zh-CN" b="1" dirty="0">
                <a:latin typeface="宋体" panose="02010600030101010101" pitchFamily="2" charset="-122"/>
                <a:ea typeface="宋体" panose="02010600030101010101" pitchFamily="2" charset="-122"/>
                <a:sym typeface="+mn-ea"/>
              </a:rPr>
              <a:t>3.</a:t>
            </a:r>
            <a:r>
              <a:rPr lang="zh-CN" altLang="en-US" b="1" dirty="0">
                <a:latin typeface="宋体" panose="02010600030101010101" pitchFamily="2" charset="-122"/>
                <a:ea typeface="宋体" panose="02010600030101010101" pitchFamily="2" charset="-122"/>
                <a:sym typeface="+mn-ea"/>
              </a:rPr>
              <a:t>如何访问F28335寄存器内容</a:t>
            </a:r>
            <a:endParaRPr lang="zh-CN" altLang="en-US" b="1" dirty="0">
              <a:latin typeface="宋体" panose="02010600030101010101" pitchFamily="2" charset="-122"/>
              <a:ea typeface="宋体" panose="02010600030101010101" pitchFamily="2" charset="-122"/>
              <a:sym typeface="+mn-ea"/>
            </a:endParaRPr>
          </a:p>
          <a:p>
            <a:pPr marL="0" indent="0">
              <a:buNone/>
            </a:pPr>
            <a:endParaRPr lang="zh-CN" altLang="en-US"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存储器映射</a:t>
            </a:r>
            <a:endParaRPr lang="zh-CN" altLang="en-US" dirty="0"/>
          </a:p>
        </p:txBody>
      </p:sp>
      <p:sp>
        <p:nvSpPr>
          <p:cNvPr id="5" name="内容占位符 4"/>
          <p:cNvSpPr>
            <a:spLocks noGrp="1"/>
          </p:cNvSpPr>
          <p:nvPr>
            <p:ph idx="1"/>
          </p:nvPr>
        </p:nvSpPr>
        <p:spPr>
          <a:xfrm>
            <a:off x="838200" y="1475105"/>
            <a:ext cx="10515600"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r>
              <a:rPr>
                <a:latin typeface="宋体" panose="02010600030101010101" pitchFamily="2" charset="-122"/>
                <a:ea typeface="宋体" panose="02010600030101010101" pitchFamily="2" charset="-122"/>
                <a:cs typeface="宋体" panose="02010600030101010101" pitchFamily="2" charset="-122"/>
              </a:rPr>
              <a:t>存储器本身不具有地址信息，它的地址是由芯片厂商或用户分配，给存储器分配地址的过程称为存储器映射，如果再分配一个地址就叫重映射。</a:t>
            </a:r>
            <a:endParaRPr>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9" descr="[ZM](XO@4WTOS6%XC)42{@1"/>
          <p:cNvPicPr>
            <a:picLocks noChangeAspect="1"/>
          </p:cNvPicPr>
          <p:nvPr/>
        </p:nvPicPr>
        <p:blipFill>
          <a:blip r:embed="rId1"/>
          <a:stretch>
            <a:fillRect/>
          </a:stretch>
        </p:blipFill>
        <p:spPr>
          <a:xfrm>
            <a:off x="3058160" y="379095"/>
            <a:ext cx="5714365" cy="593280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1475105"/>
            <a:ext cx="10514965"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r>
              <a:rPr>
                <a:latin typeface="宋体" panose="02010600030101010101" pitchFamily="2" charset="-122"/>
                <a:ea typeface="宋体" panose="02010600030101010101" pitchFamily="2" charset="-122"/>
                <a:cs typeface="宋体" panose="02010600030101010101" pitchFamily="2" charset="-122"/>
              </a:rPr>
              <a:t>F28335片上有256K×16位的FLASH，34K×16位的SARAM，8K×16位的BOOT ROM，2K×16位的OPT ROM，采用统一寻址方式（程序、数据和I/O统一寻址），从而提高了存储空间的利用率，方便程序的开发。除此之外，F28335还提供了外部并行扩展接口XINTF，可进一步外扩存储空间。</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91249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1.1 </a:t>
            </a:r>
            <a:r>
              <a:rPr lang="zh-CN" altLang="en-US" sz="2800" dirty="0">
                <a:latin typeface="宋体" panose="02010600030101010101" pitchFamily="2" charset="-122"/>
                <a:ea typeface="宋体" panose="02010600030101010101" pitchFamily="2" charset="-122"/>
                <a:sym typeface="+mn-ea"/>
              </a:rPr>
              <a:t>F28335存储空间的分配</a:t>
            </a:r>
            <a:endParaRPr lang="zh-CN" altLang="en-US" sz="2800"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1475105"/>
            <a:ext cx="10514965"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r>
              <a:rPr>
                <a:latin typeface="宋体" panose="02010600030101010101" pitchFamily="2" charset="-122"/>
                <a:ea typeface="宋体" panose="02010600030101010101" pitchFamily="2" charset="-122"/>
                <a:cs typeface="宋体" panose="02010600030101010101" pitchFamily="2" charset="-122"/>
              </a:rPr>
              <a:t>F28335是采用多级流水线的增强的哈佛总线结构，能够并行访问程序和数据存储空间。在F28335芯片内部集成了大量的不同的存储介质，F28335片上有256K×16位的FLASH，34K×16位的SARAM，8K×16位的BOOT ROM，2K×16位的OPT ROM，采用统一寻址方式（程序、数据和I/O统一寻址），从而提高了存储空间的利用率，方便程序的开发。除此之外，F28335还提供了外部并行扩展接口XINTF，可进一步外扩存储空间。</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atin typeface="宋体" panose="02010600030101010101" pitchFamily="2" charset="-122"/>
                <a:ea typeface="宋体" panose="02010600030101010101" pitchFamily="2" charset="-122"/>
                <a:cs typeface="宋体" panose="02010600030101010101" pitchFamily="2" charset="-122"/>
                <a:sym typeface="+mn-ea"/>
              </a:rPr>
              <a:t>（1）片上SARAM</a:t>
            </a:r>
            <a:endParaRPr 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atin typeface="宋体" panose="02010600030101010101" pitchFamily="2" charset="-122"/>
                <a:ea typeface="宋体" panose="02010600030101010101" pitchFamily="2" charset="-122"/>
                <a:cs typeface="宋体" panose="02010600030101010101" pitchFamily="2" charset="-122"/>
                <a:sym typeface="+mn-ea"/>
              </a:rPr>
              <a:t>（2）BOOT ROM</a:t>
            </a:r>
            <a:endParaRPr 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atin typeface="宋体" panose="02010600030101010101" pitchFamily="2" charset="-122"/>
                <a:ea typeface="宋体" panose="02010600030101010101" pitchFamily="2" charset="-122"/>
                <a:cs typeface="宋体" panose="02010600030101010101" pitchFamily="2" charset="-122"/>
                <a:sym typeface="+mn-ea"/>
              </a:rPr>
              <a:t>（3）片上FLASH和OTP</a:t>
            </a:r>
            <a:endParaRPr lang="zh-CN">
              <a:latin typeface="宋体" panose="02010600030101010101" pitchFamily="2" charset="-122"/>
              <a:ea typeface="宋体" panose="02010600030101010101" pitchFamily="2" charset="-122"/>
              <a:cs typeface="宋体" panose="02010600030101010101" pitchFamily="2" charset="-122"/>
            </a:endParaRPr>
          </a:p>
          <a:p>
            <a:pPr marL="0" indent="0">
              <a:buNone/>
            </a:pPr>
            <a:endParaRPr>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91249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1.2 </a:t>
            </a:r>
            <a:r>
              <a:rPr lang="zh-CN" altLang="en-US" sz="2800" dirty="0">
                <a:latin typeface="宋体" panose="02010600030101010101" pitchFamily="2" charset="-122"/>
                <a:ea typeface="宋体" panose="02010600030101010101" pitchFamily="2" charset="-122"/>
                <a:sym typeface="+mn-ea"/>
              </a:rPr>
              <a:t>F28335存储器特点</a:t>
            </a:r>
            <a:endParaRPr lang="zh-CN" altLang="en-US" sz="2800"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1475105"/>
            <a:ext cx="10514965"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endParaRPr>
              <a:latin typeface="宋体" panose="02010600030101010101" pitchFamily="2" charset="-122"/>
              <a:ea typeface="宋体" panose="02010600030101010101" pitchFamily="2" charset="-122"/>
              <a:cs typeface="宋体" panose="02010600030101010101" pitchFamily="2" charset="-122"/>
            </a:endParaRPr>
          </a:p>
        </p:txBody>
      </p:sp>
      <p:pic>
        <p:nvPicPr>
          <p:cNvPr id="4" name="图片 1"/>
          <p:cNvPicPr>
            <a:picLocks noChangeAspect="1"/>
          </p:cNvPicPr>
          <p:nvPr/>
        </p:nvPicPr>
        <p:blipFill>
          <a:blip r:embed="rId1"/>
          <a:stretch>
            <a:fillRect/>
          </a:stretch>
        </p:blipFill>
        <p:spPr>
          <a:xfrm>
            <a:off x="1978025" y="1572260"/>
            <a:ext cx="8225155" cy="4011295"/>
          </a:xfrm>
          <a:prstGeom prst="rect">
            <a:avLst/>
          </a:prstGeom>
          <a:noFill/>
          <a:ln w="9525">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1475105"/>
            <a:ext cx="10514965"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r>
              <a:rPr>
                <a:latin typeface="宋体" panose="02010600030101010101" pitchFamily="2" charset="-122"/>
                <a:ea typeface="宋体" panose="02010600030101010101" pitchFamily="2" charset="-122"/>
                <a:cs typeface="宋体" panose="02010600030101010101" pitchFamily="2" charset="-122"/>
              </a:rPr>
              <a:t>通过一个128位的密码（相当于8个16位的字）来对安全区来进行加密或解密。这段密码保存在FLASH的最后8个字中(0X33FFF8-OX33FFFF)，也就是密码区中（PWL) ，通过密码匹配（ PMF ) , 可以解锁器件。</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endParaRPr>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91249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1.3 </a:t>
            </a:r>
            <a:r>
              <a:rPr lang="zh-CN" altLang="en-US" sz="2800" dirty="0">
                <a:latin typeface="宋体" panose="02010600030101010101" pitchFamily="2" charset="-122"/>
                <a:ea typeface="宋体" panose="02010600030101010101" pitchFamily="2" charset="-122"/>
                <a:sym typeface="+mn-ea"/>
              </a:rPr>
              <a:t>代码安全模块CSM</a:t>
            </a:r>
            <a:endParaRPr lang="zh-CN" altLang="en-US" sz="2800"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838200" y="91249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sz="2800" dirty="0">
                <a:latin typeface="宋体" panose="02010600030101010101" pitchFamily="2" charset="-122"/>
                <a:ea typeface="宋体" panose="02010600030101010101" pitchFamily="2" charset="-122"/>
                <a:sym typeface="+mn-ea"/>
              </a:rPr>
              <a:t>1.4 外部存储器接口XINTF</a:t>
            </a:r>
            <a:endParaRPr sz="2800"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2.</a:t>
            </a:r>
            <a:r>
              <a:rPr lang="zh-CN" altLang="en-US" dirty="0">
                <a:latin typeface="宋体" panose="02010600030101010101" pitchFamily="2" charset="-122"/>
                <a:ea typeface="宋体" panose="02010600030101010101" pitchFamily="2" charset="-122"/>
                <a:sym typeface="+mn-ea"/>
              </a:rPr>
              <a:t>什么是寄存器和寄存器映射</a:t>
            </a:r>
            <a:endParaRPr lang="zh-CN" altLang="en-US" dirty="0"/>
          </a:p>
        </p:txBody>
      </p:sp>
      <p:sp>
        <p:nvSpPr>
          <p:cNvPr id="5" name="内容占位符 4"/>
          <p:cNvSpPr>
            <a:spLocks noGrp="1"/>
          </p:cNvSpPr>
          <p:nvPr>
            <p:ph idx="1"/>
          </p:nvPr>
        </p:nvSpPr>
        <p:spPr>
          <a:xfrm>
            <a:off x="838200" y="1475105"/>
            <a:ext cx="10515600"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r>
              <a:rPr>
                <a:latin typeface="宋体" panose="02010600030101010101" pitchFamily="2" charset="-122"/>
                <a:ea typeface="宋体" panose="02010600030101010101" pitchFamily="2" charset="-122"/>
                <a:cs typeface="宋体" panose="02010600030101010101" pitchFamily="2" charset="-122"/>
              </a:rPr>
              <a:t>通过#pragma预处理命令和DATA_SECTION将定义的寄存器指定到相应的存储单元内，然后即可通过C语言来操作这些寄存器。</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atin typeface="宋体" panose="02010600030101010101" pitchFamily="2" charset="-122"/>
                <a:ea typeface="宋体" panose="02010600030101010101" pitchFamily="2" charset="-122"/>
                <a:cs typeface="宋体" panose="02010600030101010101" pitchFamily="2" charset="-122"/>
              </a:rPr>
              <a:t>	比方说我们找到0x007010这个单元地址，那么可以通过查阅芯片数据手册了解到此单元是系统控制寄存器功能（至于此地址如何查找这个功能我们后面会具体介绍）。因此为了更好区分此单元的功能和方便后续的程序开发，可以给这个单元取一个别名SysCtrlRegs，那么这个SysCtrlRegs就是寄存器，并且这个寄存器地址就是0x007010。这个过程就是寄存器映射。</a:t>
            </a:r>
            <a:endParaRPr 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3.</a:t>
            </a:r>
            <a:r>
              <a:rPr lang="zh-CN" altLang="en-US" dirty="0">
                <a:latin typeface="宋体" panose="02010600030101010101" pitchFamily="2" charset="-122"/>
                <a:ea typeface="宋体" panose="02010600030101010101" pitchFamily="2" charset="-122"/>
                <a:sym typeface="+mn-ea"/>
              </a:rPr>
              <a:t>如何访问F28335寄存器内容</a:t>
            </a:r>
            <a:endParaRPr lang="zh-CN" altLang="en-US" dirty="0"/>
          </a:p>
        </p:txBody>
      </p:sp>
      <p:sp>
        <p:nvSpPr>
          <p:cNvPr id="5" name="内容占位符 4"/>
          <p:cNvSpPr>
            <a:spLocks noGrp="1"/>
          </p:cNvSpPr>
          <p:nvPr>
            <p:ph idx="1"/>
          </p:nvPr>
        </p:nvSpPr>
        <p:spPr>
          <a:xfrm>
            <a:off x="838200" y="1475105"/>
            <a:ext cx="10515600"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r>
              <a:rPr>
                <a:latin typeface="宋体" panose="02010600030101010101" pitchFamily="2" charset="-122"/>
                <a:ea typeface="宋体" panose="02010600030101010101" pitchFamily="2" charset="-122"/>
                <a:cs typeface="宋体" panose="02010600030101010101" pitchFamily="2" charset="-122"/>
              </a:rPr>
              <a:t>根据#pragma和DATA_SECTION（这些是CCS软件内特定的）的特点，可以使用#pragma和DATA_SECTION将定义的寄存器与实际的存储单元对应起来，然后再使用C语言操作定义的寄存器，比如使用结构体等。假如我们要让F28335的GPIOC的第68管脚输出低电平，我们怎么使用 C 语言来处理？</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a:t>
            </a:r>
            <a:r>
              <a:rPr lang="en-US" altLang="zh-CN">
                <a:latin typeface="宋体" panose="02010600030101010101" pitchFamily="2" charset="-122"/>
                <a:ea typeface="宋体" panose="02010600030101010101" pitchFamily="2" charset="-122"/>
                <a:cs typeface="宋体" panose="02010600030101010101" pitchFamily="2" charset="-122"/>
              </a:rPr>
              <a:t>1</a:t>
            </a:r>
            <a:r>
              <a:rPr lang="zh-CN" altLang="en-US">
                <a:latin typeface="宋体" panose="02010600030101010101" pitchFamily="2" charset="-122"/>
                <a:ea typeface="宋体" panose="02010600030101010101" pitchFamily="2" charset="-122"/>
                <a:cs typeface="宋体" panose="02010600030101010101" pitchFamily="2" charset="-122"/>
              </a:rPr>
              <a:t>）首先要知道GPIO外设每类寄存器所对应存储单元的首地址是哪个，比如GPIO控制寄存器，通过查询数据手册可知其首地址是0x006F80，然后使用#pragma和DATA_SECTION将定义的寄存器与实际的存储单元对应起来。</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#pragma DATA_SECTION(GpioCtrlRegs,"GpioCtrlRegsFile");</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该定义可在DSP2833x_GlobalVariableDefs.c文件中查找到</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volatile struct GPIO_CTRL_REGS GpioCtrlRegs;</a:t>
            </a:r>
            <a:endParaRPr lang="en-US" alt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1475105"/>
            <a:ext cx="10515600" cy="4883785"/>
          </a:xfrm>
        </p:spPr>
        <p:txBody>
          <a:bodyPr>
            <a:normAutofit lnSpcReduction="10000"/>
          </a:bodyPr>
          <a:p>
            <a:pPr marL="0" indent="0">
              <a:buNone/>
            </a:pPr>
            <a:r>
              <a:rPr lang="en-US">
                <a:latin typeface="宋体" panose="02010600030101010101" pitchFamily="2" charset="-122"/>
                <a:ea typeface="宋体" panose="02010600030101010101" pitchFamily="2" charset="-122"/>
                <a:cs typeface="宋体" panose="02010600030101010101" pitchFamily="2" charset="-122"/>
              </a:rPr>
              <a:t>	</a:t>
            </a:r>
            <a:r>
              <a:rPr>
                <a:latin typeface="宋体" panose="02010600030101010101" pitchFamily="2" charset="-122"/>
                <a:ea typeface="宋体" panose="02010600030101010101" pitchFamily="2" charset="-122"/>
                <a:cs typeface="宋体" panose="02010600030101010101" pitchFamily="2" charset="-122"/>
              </a:rPr>
              <a:t>GpioCtrlRegsFile是SECTIONS内定义的，该定义可在DSP2833x_Headers_nonBIOS.cmd文件中查找到</a:t>
            </a:r>
            <a:r>
              <a:rPr lang="zh-CN">
                <a:latin typeface="宋体" panose="02010600030101010101" pitchFamily="2" charset="-122"/>
                <a:ea typeface="宋体" panose="02010600030101010101" pitchFamily="2" charset="-122"/>
                <a:cs typeface="宋体" panose="02010600030101010101" pitchFamily="2" charset="-122"/>
              </a:rPr>
              <a:t>。</a:t>
            </a:r>
            <a:endParaRPr lang="zh-CN">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90525"/>
            <a:ext cx="10515600" cy="5968365"/>
          </a:xfrm>
        </p:spPr>
        <p:txBody>
          <a:bodyPr>
            <a:normAutofit fontScale="50000"/>
          </a:bodyPr>
          <a:p>
            <a:pPr marL="0" indent="0">
              <a:buNone/>
            </a:pPr>
            <a:r>
              <a:rPr>
                <a:latin typeface="宋体" panose="02010600030101010101" pitchFamily="2" charset="-122"/>
                <a:ea typeface="宋体" panose="02010600030101010101" pitchFamily="2" charset="-122"/>
                <a:cs typeface="宋体" panose="02010600030101010101" pitchFamily="2" charset="-122"/>
              </a:rPr>
              <a:t>GPIO数据寄存器GPIO_DATA_REGS：</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struct GPIO_DATA_REGS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GPADAT_REG       GPADAT;       // GPIO Data Register (GPIO0 to 31)</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GPADAT_REG       GPASET;       // GPIO Data Set Register (GPIO0 to 31)</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GPADAT_REG       GPACLEAR;     // GPIO Data Clear Register (GPIO0 to 31)</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GPADAT_REG       GPATOGGLE;    // GPIO Data Toggle Register (GPIO0 to 31)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GPBDAT_REG       GPBDAT;       // GPIO Data Register (GPIO32 to 63)</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GPBDAT_REG       GPBSET;       // GPIO Data Set Register (GPIO32 to 63)</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GPBDAT_REG       GPBCLEAR;     // GPIO Data Clear Register (GPIO32 to 63)</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GPBDAT_REG       GPBTOGGLE;    // GPIO Data Toggle Register (GPIO32 to 63)</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GPCDAT_REG       GPCDAT;       // GPIO Data Register (GPIO64 to 95)</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GPCDAT_REG       GPCSET;       // GPIO Data Set Register (GPIO64 to 95)</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GPCDAT_REG       GPCCLEAR;     // GPIO Data Clear Register (GPIO64 to 95)</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union  GPCDAT_REG       GPCTOGGLE;    // GPIO Data Toggle Register (GPIO64 to 95)</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Uint16                  rsvd1[8];</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90525"/>
            <a:ext cx="10515600" cy="5968365"/>
          </a:xfrm>
        </p:spPr>
        <p:txBody>
          <a:bodyPr>
            <a:normAutofit fontScale="90000" lnSpcReduction="20000"/>
          </a:bodyPr>
          <a:p>
            <a:pPr marL="0" indent="0">
              <a:buNone/>
            </a:pPr>
            <a:r>
              <a:rPr>
                <a:latin typeface="宋体" panose="02010600030101010101" pitchFamily="2" charset="-122"/>
                <a:ea typeface="宋体" panose="02010600030101010101" pitchFamily="2" charset="-122"/>
                <a:cs typeface="宋体" panose="02010600030101010101" pitchFamily="2" charset="-122"/>
              </a:rPr>
              <a:t>union GPACTRL_REG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Uint32              all;</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struct GPACTRL_BITS bit;</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GPIO A control register bit definitions */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struct GPACTRL_BITS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 bits   description</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Uint16 QUALPRD0:8;        // 7:0    Qual period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Uint16 QUALPRD1:8;        // 15:8   Qual period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Uint16 QUALPRD2:8;        // 23:16  Qual period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   Uint16 QUALPRD3:8;        // 31:24  Qual period  </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90525"/>
            <a:ext cx="10515600" cy="5968365"/>
          </a:xfrm>
        </p:spPr>
        <p:txBody>
          <a:bodyPr>
            <a:normAutofit/>
          </a:bodyPr>
          <a:p>
            <a:pPr marL="0" indent="0">
              <a:buNone/>
            </a:pPr>
            <a:r>
              <a:rPr>
                <a:latin typeface="宋体" panose="02010600030101010101" pitchFamily="2" charset="-122"/>
                <a:ea typeface="宋体" panose="02010600030101010101" pitchFamily="2" charset="-122"/>
                <a:cs typeface="宋体" panose="02010600030101010101" pitchFamily="2" charset="-122"/>
              </a:rPr>
              <a:t>所以要让GPIO68输出一个低电平可使用C语言调用结构体内成员，如下：</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rPr>
              <a:t>GpioDataRegs.GPCCLEAR.bit.GPIO68=1;//设置GPIO输出低电平信号</a:t>
            </a:r>
            <a:endParaRPr>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AG_VERSION" val="1.0"/>
  <p:tag name="KSO_WM_TEMPLATE_CATEGORY" val="custom"/>
  <p:tag name="KSO_WM_TEMPLATE_INDEX" val="160428"/>
</p:tagLst>
</file>

<file path=ppt/tags/tag2.xml><?xml version="1.0" encoding="utf-8"?>
<p:tagLst xmlns:p="http://schemas.openxmlformats.org/presentationml/2006/main">
  <p:tag name="KSO_WM_TAG_VERSION" val="1.0"/>
  <p:tag name="KSO_WM_TEMPLATE_CATEGORY" val="custom"/>
  <p:tag name="KSO_WM_TEMPLATE_INDEX" val="160428"/>
</p:tagLst>
</file>

<file path=ppt/tags/tag3.xml><?xml version="1.0" encoding="utf-8"?>
<p:tagLst xmlns:p="http://schemas.openxmlformats.org/presentationml/2006/main">
  <p:tag name="KSO_WM_TAG_VERSION" val="1.0"/>
  <p:tag name="KSO_WM_BEAUTIFY_FLAG" val="#wm#"/>
  <p:tag name="KSO_WM_TEMPLATE_CATEGORY" val="custom"/>
  <p:tag name="KSO_WM_TEMPLATE_INDEX" val="160428"/>
  <p:tag name="KSO_WM_UNIT_TYPE" val="a"/>
  <p:tag name="KSO_WM_UNIT_INDEX" val="1"/>
  <p:tag name="KSO_WM_UNIT_ID" val="custom160428_1*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4.xml><?xml version="1.0" encoding="utf-8"?>
<p:tagLst xmlns:p="http://schemas.openxmlformats.org/presentationml/2006/main">
  <p:tag name="KSO_WM_TEMPLATE_THUMBS_INDEX" val="1、9、12、16、20、26、28、29"/>
  <p:tag name="KSO_WM_TEMPLATE_CATEGORY" val="custom"/>
  <p:tag name="KSO_WM_TEMPLATE_INDEX" val="160428"/>
  <p:tag name="KSO_WM_TAG_VERSION" val="1.0"/>
  <p:tag name="KSO_WM_SLIDE_ID" val="custom160428_1"/>
  <p:tag name="KSO_WM_SLIDE_INDEX" val="1"/>
  <p:tag name="KSO_WM_SLIDE_ITEM_CNT" val="2"/>
  <p:tag name="KSO_WM_SLIDE_LAYOUT" val="a_b"/>
  <p:tag name="KSO_WM_SLIDE_LAYOUT_CNT" val="1_1"/>
  <p:tag name="KSO_WM_SLIDE_TYPE" val="title"/>
  <p:tag name="KSO_WM_BEAUTIFY_FLAG" val="#wm#"/>
</p:tagLst>
</file>

<file path=ppt/theme/theme1.xml><?xml version="1.0" encoding="utf-8"?>
<a:theme xmlns:a="http://schemas.openxmlformats.org/drawingml/2006/main" name="1_A000120140530A99PPBG">
  <a:themeElements>
    <a:clrScheme name="141">
      <a:dk1>
        <a:srgbClr val="5F5F5F"/>
      </a:dk1>
      <a:lt1>
        <a:sysClr val="window" lastClr="FFFFFF"/>
      </a:lt1>
      <a:dk2>
        <a:srgbClr val="5F5F5F"/>
      </a:dk2>
      <a:lt2>
        <a:srgbClr val="FFFFFF"/>
      </a:lt2>
      <a:accent1>
        <a:srgbClr val="87A452"/>
      </a:accent1>
      <a:accent2>
        <a:srgbClr val="58B898"/>
      </a:accent2>
      <a:accent3>
        <a:srgbClr val="489698"/>
      </a:accent3>
      <a:accent4>
        <a:srgbClr val="C2C25E"/>
      </a:accent4>
      <a:accent5>
        <a:srgbClr val="C00000"/>
      </a:accent5>
      <a:accent6>
        <a:srgbClr val="FFC000"/>
      </a:accent6>
      <a:hlink>
        <a:srgbClr val="00B0F0"/>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3018</Words>
  <Application>WPS 演示</Application>
  <PresentationFormat>自定义</PresentationFormat>
  <Paragraphs>90</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宋体</vt:lpstr>
      <vt:lpstr>Wingdings</vt:lpstr>
      <vt:lpstr>黑体</vt:lpstr>
      <vt:lpstr>Wingdings 2</vt:lpstr>
      <vt:lpstr>微软雅黑</vt:lpstr>
      <vt:lpstr>Arial Unicode MS</vt:lpstr>
      <vt:lpstr>Wingdings</vt:lpstr>
      <vt:lpstr>Calibri</vt:lpstr>
      <vt:lpstr>1_A000120140530A99PPBG</vt:lpstr>
      <vt:lpstr>DSP TMS320F28335介绍</vt:lpstr>
      <vt:lpstr>本讲主要内容</vt:lpstr>
      <vt:lpstr>1.TMS320F28335介绍</vt:lpstr>
      <vt:lpstr>1.存储器映射</vt:lpstr>
      <vt:lpstr>2.什么是寄存器和寄存器映射</vt:lpstr>
      <vt:lpstr>PowerPoint 演示文稿</vt:lpstr>
      <vt:lpstr>PowerPoint 演示文稿</vt:lpstr>
      <vt:lpstr>PowerPoint 演示文稿</vt:lpstr>
      <vt:lpstr>PowerPoint 演示文稿</vt:lpstr>
      <vt:lpstr>2.F28335能做什么</vt:lpstr>
      <vt:lpstr>3.怎样学好F28335</vt:lpstr>
      <vt:lpstr>3.如何访问F28335寄存器内容</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认识和了解开发板功能及其使用</dc:title>
  <dc:creator/>
  <cp:lastModifiedBy>普中科技35</cp:lastModifiedBy>
  <cp:revision>33</cp:revision>
  <dcterms:created xsi:type="dcterms:W3CDTF">2015-05-05T08:02:00Z</dcterms:created>
  <dcterms:modified xsi:type="dcterms:W3CDTF">2018-06-09T08:03:55Z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